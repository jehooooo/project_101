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686800" y="-1371600"/>
            <a:ext cx="4572000" cy="4572000"/>
          </a:xfrm>
          <a:prstGeom prst="ellipse">
            <a:avLst/>
          </a:prstGeom>
          <a:solidFill>
            <a:srgbClr val="1A2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9144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4D8"/>
                </a:solidFill>
                <a:latin typeface="Calibri"/>
              </a:rPr>
              <a:t>DMMMSU-SLUC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17320"/>
            <a:ext cx="91440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  <a:latin typeface="Calibri"/>
              </a:rPr>
              <a:t>Disaster / Emergency Incident
Report Monitoring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2004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90E0EF"/>
                </a:solidFill>
                <a:latin typeface="Calibri"/>
              </a:rPr>
              <a:t>System Documentation &amp; Presentation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3931920"/>
            <a:ext cx="12188952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41605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B4D8"/>
                </a:solidFill>
                <a:latin typeface="Calibri"/>
              </a:rPr>
              <a:t>GROUP MEMBERS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617720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AD3E0"/>
                </a:solidFill>
                <a:latin typeface="Calibri"/>
              </a:rPr>
              <a:t>• Jehouse Biscarra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965192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AD3E0"/>
                </a:solidFill>
                <a:latin typeface="Calibri"/>
              </a:rPr>
              <a:t>• Laurice Mae Ancheta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312664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AD3E0"/>
                </a:solidFill>
                <a:latin typeface="Calibri"/>
              </a:rPr>
              <a:t>• Raymund John Prado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660136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AD3E0"/>
                </a:solidFill>
                <a:latin typeface="Calibri"/>
              </a:rPr>
              <a:t>• Trisha Dacumos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007608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AD3E0"/>
                </a:solidFill>
                <a:latin typeface="Calibri"/>
              </a:rPr>
              <a:t>• Christian Obungen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0" y="4617720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AD3E0"/>
                </a:solidFill>
                <a:latin typeface="Calibri"/>
              </a:rPr>
              <a:t>• Jezebel Subia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0" y="4965192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AD3E0"/>
                </a:solidFill>
                <a:latin typeface="Calibri"/>
              </a:rPr>
              <a:t>• Justin Contindenas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0" y="5312664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AD3E0"/>
                </a:solidFill>
                <a:latin typeface="Calibri"/>
              </a:rPr>
              <a:t>• Justine Jade Tavas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0" y="5660136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AD3E0"/>
                </a:solidFill>
                <a:latin typeface="Calibri"/>
              </a:rPr>
              <a:t>• John Lagao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0" y="6007608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AD3E0"/>
                </a:solidFill>
                <a:latin typeface="Calibri"/>
              </a:rPr>
              <a:t>• Cristelle Trisinio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78992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AD3E0"/>
                </a:solidFill>
                <a:latin typeface="Calibri"/>
              </a:rPr>
              <a:t>01 / 14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88952" cy="6400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4D8"/>
                </a:solidFill>
                <a:latin typeface="Calibri"/>
              </a:rPr>
              <a:t>TABLE OF CONTENTS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Presentation Outline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508760"/>
            <a:ext cx="5486400" cy="731520"/>
          </a:xfrm>
          <a:prstGeom prst="rect">
            <a:avLst/>
          </a:prstGeom>
          <a:solidFill>
            <a:srgbClr val="1A2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55448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B4D8"/>
                </a:solidFill>
                <a:latin typeface="Calibri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155448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Introduction to the System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1892807"/>
            <a:ext cx="4389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AD3E0"/>
                </a:solidFill>
                <a:latin typeface="Calibri"/>
              </a:rPr>
              <a:t>About the system, its purpose and goals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423160"/>
            <a:ext cx="5486400" cy="731520"/>
          </a:xfrm>
          <a:prstGeom prst="rect">
            <a:avLst/>
          </a:prstGeom>
          <a:solidFill>
            <a:srgbClr val="1A2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2468879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B4D8"/>
                </a:solidFill>
                <a:latin typeface="Calibri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2468879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Technology Stack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2807208"/>
            <a:ext cx="4389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AD3E0"/>
                </a:solidFill>
                <a:latin typeface="Calibri"/>
              </a:rPr>
              <a:t>Programming languages &amp; frameworks used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3337560"/>
            <a:ext cx="5486400" cy="731520"/>
          </a:xfrm>
          <a:prstGeom prst="rect">
            <a:avLst/>
          </a:prstGeom>
          <a:solidFill>
            <a:srgbClr val="1A2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3383279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B4D8"/>
                </a:solidFill>
                <a:latin typeface="Calibri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3383279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Database Type &amp; Overview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3721608"/>
            <a:ext cx="4389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AD3E0"/>
                </a:solidFill>
                <a:latin typeface="Calibri"/>
              </a:rPr>
              <a:t>MySQL database and its role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4251960"/>
            <a:ext cx="5486400" cy="731520"/>
          </a:xfrm>
          <a:prstGeom prst="rect">
            <a:avLst/>
          </a:prstGeom>
          <a:solidFill>
            <a:srgbClr val="1A2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429768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B4D8"/>
                </a:solidFill>
                <a:latin typeface="Calibri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429768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Database Tables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4636008"/>
            <a:ext cx="4389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AD3E0"/>
                </a:solidFill>
                <a:latin typeface="Calibri"/>
              </a:rPr>
              <a:t>Users &amp; Incidents table structure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5166360"/>
            <a:ext cx="5486400" cy="731520"/>
          </a:xfrm>
          <a:prstGeom prst="rect">
            <a:avLst/>
          </a:prstGeom>
          <a:solidFill>
            <a:srgbClr val="1A2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521208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B4D8"/>
                </a:solidFill>
                <a:latin typeface="Calibri"/>
              </a:rP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" y="521208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Table Relationships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" y="5550408"/>
            <a:ext cx="4389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AD3E0"/>
                </a:solidFill>
                <a:latin typeface="Calibri"/>
              </a:rPr>
              <a:t>Foreign keys &amp; relational constraints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0" y="1508760"/>
            <a:ext cx="5486400" cy="731520"/>
          </a:xfrm>
          <a:prstGeom prst="rect">
            <a:avLst/>
          </a:prstGeom>
          <a:solidFill>
            <a:srgbClr val="1A2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37959" y="155448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B4D8"/>
                </a:solidFill>
                <a:latin typeface="Calibri"/>
              </a:rPr>
              <a:t>06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32320" y="155448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Entity-Relationship Diagram (ERD)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32320" y="1892807"/>
            <a:ext cx="4389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AD3E0"/>
                </a:solidFill>
                <a:latin typeface="Calibri"/>
              </a:rPr>
              <a:t>Visual representation of data model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00800" y="2423160"/>
            <a:ext cx="5486400" cy="731520"/>
          </a:xfrm>
          <a:prstGeom prst="rect">
            <a:avLst/>
          </a:prstGeom>
          <a:solidFill>
            <a:srgbClr val="1A2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37959" y="2468879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B4D8"/>
                </a:solidFill>
                <a:latin typeface="Calibri"/>
              </a:rPr>
              <a:t>07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132320" y="2468879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Normalization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132320" y="2807208"/>
            <a:ext cx="4389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AD3E0"/>
                </a:solidFill>
                <a:latin typeface="Calibri"/>
              </a:rPr>
              <a:t>1NF, 2NF, 3NF applied to the schema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00800" y="3337560"/>
            <a:ext cx="5486400" cy="731520"/>
          </a:xfrm>
          <a:prstGeom prst="rect">
            <a:avLst/>
          </a:prstGeom>
          <a:solidFill>
            <a:srgbClr val="1A2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37959" y="3383279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B4D8"/>
                </a:solidFill>
                <a:latin typeface="Calibri"/>
              </a:rPr>
              <a:t>08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32320" y="3383279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Development Life Cycle Model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132320" y="3721608"/>
            <a:ext cx="4389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AD3E0"/>
                </a:solidFill>
                <a:latin typeface="Calibri"/>
              </a:rPr>
              <a:t>SDLC methodology used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400800" y="4251960"/>
            <a:ext cx="5486400" cy="731520"/>
          </a:xfrm>
          <a:prstGeom prst="rect">
            <a:avLst/>
          </a:prstGeom>
          <a:solidFill>
            <a:srgbClr val="1A2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537959" y="429768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B4D8"/>
                </a:solidFill>
                <a:latin typeface="Calibri"/>
              </a:rPr>
              <a:t>09–14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132320" y="429768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System Features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132320" y="4636008"/>
            <a:ext cx="4389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AD3E0"/>
                </a:solidFill>
                <a:latin typeface="Calibri"/>
              </a:rPr>
              <a:t>Core features, roles, and workflows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78992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AD3E0"/>
                </a:solidFill>
                <a:latin typeface="Calibri"/>
              </a:rPr>
              <a:t>02 / 14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88952" cy="6400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4D8"/>
                </a:solidFill>
                <a:latin typeface="Calibri"/>
              </a:rPr>
              <a:t>INTRODUCTION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30352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About the System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389888"/>
            <a:ext cx="11430000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581912"/>
            <a:ext cx="5486400" cy="4389120"/>
          </a:xfrm>
          <a:prstGeom prst="rect">
            <a:avLst/>
          </a:prstGeom>
          <a:solidFill>
            <a:srgbClr val="1A2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719072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4D8"/>
                </a:solidFill>
                <a:latin typeface="Calibri"/>
              </a:rPr>
              <a:t>📋  What is it?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148840"/>
            <a:ext cx="52120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CAD3E0"/>
                </a:solidFill>
                <a:latin typeface="Calibri"/>
              </a:rPr>
              <a:t>The DMMMSU-SLUC Incident Monitoring System is a</a:t>
            </a:r>
          </a:p>
          <a:p>
            <a:r>
              <a:rPr sz="1200" b="0">
                <a:solidFill>
                  <a:srgbClr val="CAD3E0"/>
                </a:solidFill>
                <a:latin typeface="Calibri"/>
              </a:rPr>
              <a:t>web-based application developed for Don Mariano</a:t>
            </a:r>
          </a:p>
          <a:p>
            <a:r>
              <a:rPr sz="1200" b="0">
                <a:solidFill>
                  <a:srgbClr val="CAD3E0"/>
                </a:solidFill>
                <a:latin typeface="Calibri"/>
              </a:rPr>
              <a:t>Marcos Memorial State University – San Luis Campus.</a:t>
            </a:r>
          </a:p>
          <a:p>
            <a:r>
              <a:rPr sz="1200" b="0">
                <a:solidFill>
                  <a:srgbClr val="CAD3E0"/>
                </a:solidFill>
                <a:latin typeface="Calibri"/>
              </a:rPr>
              <a:t/>
            </a:r>
          </a:p>
          <a:p>
            <a:r>
              <a:rPr sz="1200" b="0">
                <a:solidFill>
                  <a:srgbClr val="CAD3E0"/>
                </a:solidFill>
                <a:latin typeface="Calibri"/>
              </a:rPr>
              <a:t>It provides a centralized, digital platform for:</a:t>
            </a:r>
          </a:p>
          <a:p>
            <a:r>
              <a:rPr sz="1200" b="0">
                <a:solidFill>
                  <a:srgbClr val="CAD3E0"/>
                </a:solidFill>
                <a:latin typeface="Calibri"/>
              </a:rPr>
              <a:t>  • Reporting disaster &amp; emergency incidents</a:t>
            </a:r>
          </a:p>
          <a:p>
            <a:r>
              <a:rPr sz="1200" b="0">
                <a:solidFill>
                  <a:srgbClr val="CAD3E0"/>
                </a:solidFill>
                <a:latin typeface="Calibri"/>
              </a:rPr>
              <a:t>  • Tracking incident status in real-time</a:t>
            </a:r>
          </a:p>
          <a:p>
            <a:r>
              <a:rPr sz="1200" b="0">
                <a:solidFill>
                  <a:srgbClr val="CAD3E0"/>
                </a:solidFill>
                <a:latin typeface="Calibri"/>
              </a:rPr>
              <a:t>  • Managing the full incident lifecycle</a:t>
            </a:r>
          </a:p>
          <a:p>
            <a:r>
              <a:rPr sz="1200" b="0">
                <a:solidFill>
                  <a:srgbClr val="CAD3E0"/>
                </a:solidFill>
                <a:latin typeface="Calibri"/>
              </a:rPr>
              <a:t>  • Generating automated PDF reports</a:t>
            </a:r>
          </a:p>
          <a:p>
            <a:r>
              <a:rPr sz="1200" b="0">
                <a:solidFill>
                  <a:srgbClr val="CAD3E0"/>
                </a:solidFill>
                <a:latin typeface="Calibri"/>
              </a:rPr>
              <a:t>  • Sending email &amp; SMS notifications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26480" y="1581912"/>
            <a:ext cx="5669280" cy="2057400"/>
          </a:xfrm>
          <a:prstGeom prst="rect">
            <a:avLst/>
          </a:prstGeom>
          <a:solidFill>
            <a:srgbClr val="1A2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55080" y="1719072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4D8"/>
                </a:solidFill>
                <a:latin typeface="Calibri"/>
              </a:rPr>
              <a:t>🎯  System Goal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5080" y="2148840"/>
            <a:ext cx="5394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CAD3E0"/>
                </a:solidFill>
                <a:latin typeface="Calibri"/>
              </a:rPr>
              <a:t>Replace manual, paper-based reporting with an</a:t>
            </a:r>
          </a:p>
          <a:p>
            <a:r>
              <a:rPr sz="1200" b="0">
                <a:solidFill>
                  <a:srgbClr val="CAD3E0"/>
                </a:solidFill>
                <a:latin typeface="Calibri"/>
              </a:rPr>
              <a:t>automated, role-based digital workflow — ensuring</a:t>
            </a:r>
          </a:p>
          <a:p>
            <a:r>
              <a:rPr sz="1200" b="0">
                <a:solidFill>
                  <a:srgbClr val="CAD3E0"/>
                </a:solidFill>
                <a:latin typeface="Calibri"/>
              </a:rPr>
              <a:t>incidents are logged accurately, acted upon quickly,</a:t>
            </a:r>
          </a:p>
          <a:p>
            <a:r>
              <a:rPr sz="1200" b="0">
                <a:solidFill>
                  <a:srgbClr val="CAD3E0"/>
                </a:solidFill>
                <a:latin typeface="Calibri"/>
              </a:rPr>
              <a:t>and fully documented from submission to resolution.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26480" y="3840480"/>
            <a:ext cx="5669280" cy="2130552"/>
          </a:xfrm>
          <a:prstGeom prst="rect">
            <a:avLst/>
          </a:prstGeom>
          <a:solidFill>
            <a:srgbClr val="1A2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5080" y="3977639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4D8"/>
                </a:solidFill>
                <a:latin typeface="Calibri"/>
              </a:rPr>
              <a:t>🔄  Incident Workflow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4407408"/>
            <a:ext cx="5394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CAD3E0"/>
                </a:solidFill>
                <a:latin typeface="Calibri"/>
              </a:rPr>
              <a:t>1. Staff submits incident  →  Status: Pending</a:t>
            </a:r>
          </a:p>
          <a:p>
            <a:r>
              <a:rPr sz="1200" b="0">
                <a:solidFill>
                  <a:srgbClr val="CAD3E0"/>
                </a:solidFill>
                <a:latin typeface="Calibri"/>
              </a:rPr>
              <a:t>2. Admin reviews &amp; acts   →  Status: In Progress</a:t>
            </a:r>
          </a:p>
          <a:p>
            <a:r>
              <a:rPr sz="1200" b="0">
                <a:solidFill>
                  <a:srgbClr val="CAD3E0"/>
                </a:solidFill>
                <a:latin typeface="Calibri"/>
              </a:rPr>
              <a:t>3. Staff resolves issue   →  Status: Solved</a:t>
            </a:r>
          </a:p>
          <a:p>
            <a:r>
              <a:rPr sz="1200" b="0">
                <a:solidFill>
                  <a:srgbClr val="CAD3E0"/>
                </a:solidFill>
                <a:latin typeface="Calibri"/>
              </a:rPr>
              <a:t>4. PDF auto-generated + email/SMS sent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78992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AD3E0"/>
                </a:solidFill>
                <a:latin typeface="Calibri"/>
              </a:rPr>
              <a:t>03 / 14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88952" cy="6400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4D8"/>
                </a:solidFill>
                <a:latin typeface="Calibri"/>
              </a:rPr>
              <a:t>INTRODUCTION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30352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Technology Stack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389888"/>
            <a:ext cx="11430000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600200"/>
            <a:ext cx="3657600" cy="4892040"/>
          </a:xfrm>
          <a:prstGeom prst="rect">
            <a:avLst/>
          </a:prstGeom>
          <a:solidFill>
            <a:srgbClr val="1A2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600200"/>
            <a:ext cx="3657600" cy="164592"/>
          </a:xfrm>
          <a:prstGeom prst="rect">
            <a:avLst/>
          </a:prstGeom>
          <a:solidFill>
            <a:srgbClr val="61DB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82880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61DBFB"/>
                </a:solidFill>
                <a:latin typeface="Calibri"/>
              </a:rPr>
              <a:t>⚛  Frontend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331720"/>
            <a:ext cx="3383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AD3E0"/>
                </a:solidFill>
                <a:latin typeface="Calibri"/>
              </a:rPr>
              <a:t>  React 18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825496"/>
            <a:ext cx="3383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AD3E0"/>
                </a:solidFill>
                <a:latin typeface="Calibri"/>
              </a:rPr>
              <a:t>  TypeScript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3319272"/>
            <a:ext cx="3383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AD3E0"/>
                </a:solidFill>
                <a:latin typeface="Calibri"/>
              </a:rPr>
              <a:t>  Vite (build tool)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3813048"/>
            <a:ext cx="3383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AD3E0"/>
                </a:solidFill>
                <a:latin typeface="Calibri"/>
              </a:rPr>
              <a:t>  Tailwind CSS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4306824"/>
            <a:ext cx="3383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AD3E0"/>
                </a:solidFill>
                <a:latin typeface="Calibri"/>
              </a:rPr>
              <a:t>  shadcn/ui components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4800600"/>
            <a:ext cx="3383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AD3E0"/>
                </a:solidFill>
                <a:latin typeface="Calibri"/>
              </a:rPr>
              <a:t>  Recharts (data viz)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5294376"/>
            <a:ext cx="3383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AD3E0"/>
                </a:solidFill>
                <a:latin typeface="Calibri"/>
              </a:rPr>
              <a:t>  React Router v6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5788152"/>
            <a:ext cx="3383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AD3E0"/>
                </a:solidFill>
                <a:latin typeface="Calibri"/>
              </a:rPr>
              <a:t>  Axios (HTTP client)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87952" y="1600200"/>
            <a:ext cx="3657600" cy="4892040"/>
          </a:xfrm>
          <a:prstGeom prst="rect">
            <a:avLst/>
          </a:prstGeom>
          <a:solidFill>
            <a:srgbClr val="1A2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187952" y="1600200"/>
            <a:ext cx="3657600" cy="164592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325112" y="182880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6D6A0"/>
                </a:solidFill>
                <a:latin typeface="Calibri"/>
              </a:rPr>
              <a:t>🐍  Backend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25112" y="2331720"/>
            <a:ext cx="3383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AD3E0"/>
                </a:solidFill>
                <a:latin typeface="Calibri"/>
              </a:rPr>
              <a:t>  Python 3.x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25112" y="2825496"/>
            <a:ext cx="3383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AD3E0"/>
                </a:solidFill>
                <a:latin typeface="Calibri"/>
              </a:rPr>
              <a:t>  Flask (web framework)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25112" y="3319272"/>
            <a:ext cx="3383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AD3E0"/>
                </a:solidFill>
                <a:latin typeface="Calibri"/>
              </a:rPr>
              <a:t>  SQLAlchemy (ORM)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25112" y="3813048"/>
            <a:ext cx="3383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AD3E0"/>
                </a:solidFill>
                <a:latin typeface="Calibri"/>
              </a:rPr>
              <a:t>  Flask-JWT-Extended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25112" y="4306824"/>
            <a:ext cx="3383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AD3E0"/>
                </a:solidFill>
                <a:latin typeface="Calibri"/>
              </a:rPr>
              <a:t>  Flask-CORS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25112" y="4800600"/>
            <a:ext cx="3383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AD3E0"/>
                </a:solidFill>
                <a:latin typeface="Calibri"/>
              </a:rPr>
              <a:t>  Werkzeug (security)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25112" y="5294376"/>
            <a:ext cx="3383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AD3E0"/>
                </a:solidFill>
                <a:latin typeface="Calibri"/>
              </a:rPr>
              <a:t>  ReportLab (PDF gen)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25112" y="5788152"/>
            <a:ext cx="3383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AD3E0"/>
                </a:solidFill>
                <a:latin typeface="Calibri"/>
              </a:rPr>
              <a:t>  Twilio / SMTP (notify)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010144" y="1600200"/>
            <a:ext cx="3657600" cy="4892040"/>
          </a:xfrm>
          <a:prstGeom prst="rect">
            <a:avLst/>
          </a:prstGeom>
          <a:solidFill>
            <a:srgbClr val="1A2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010144" y="1600200"/>
            <a:ext cx="3657600" cy="164592"/>
          </a:xfrm>
          <a:prstGeom prst="rect">
            <a:avLst/>
          </a:prstGeom>
          <a:solidFill>
            <a:srgbClr val="FFD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147304" y="182880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D600"/>
                </a:solidFill>
                <a:latin typeface="Calibri"/>
              </a:rPr>
              <a:t>🗄  Database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47304" y="2331720"/>
            <a:ext cx="3383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AD3E0"/>
                </a:solidFill>
                <a:latin typeface="Calibri"/>
              </a:rPr>
              <a:t>  MySQL 8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47304" y="2825496"/>
            <a:ext cx="3383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AD3E0"/>
                </a:solidFill>
                <a:latin typeface="Calibri"/>
              </a:rPr>
              <a:t>  InnoDB engine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147304" y="3319272"/>
            <a:ext cx="3383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AD3E0"/>
                </a:solidFill>
                <a:latin typeface="Calibri"/>
              </a:rPr>
              <a:t>  utf8mb4 charset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147304" y="3813048"/>
            <a:ext cx="3383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AD3E0"/>
                </a:solidFill>
                <a:latin typeface="Calibri"/>
              </a:rPr>
              <a:t>  PyMySQL connector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147304" y="4306824"/>
            <a:ext cx="3383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AD3E0"/>
                </a:solidFill>
                <a:latin typeface="Calibri"/>
              </a:rPr>
              <a:t>  campus_incidents_db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147304" y="4800600"/>
            <a:ext cx="3383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AD3E0"/>
                </a:solidFill>
                <a:latin typeface="Calibri"/>
              </a:rPr>
              <a:t>  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147304" y="5294376"/>
            <a:ext cx="3383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AD3E0"/>
                </a:solidFill>
                <a:latin typeface="Calibri"/>
              </a:rPr>
              <a:t>  Schema managed via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147304" y="5788152"/>
            <a:ext cx="3383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AD3E0"/>
                </a:solidFill>
                <a:latin typeface="Calibri"/>
              </a:rPr>
              <a:t>  SQLAlchemy models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78992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AD3E0"/>
                </a:solidFill>
                <a:latin typeface="Calibri"/>
              </a:rPr>
              <a:t>04 / 14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88952" cy="6400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4D8"/>
                </a:solidFill>
                <a:latin typeface="Calibri"/>
              </a:rPr>
              <a:t>DATABASE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30352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Database Type &amp; Overview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389888"/>
            <a:ext cx="11430000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581912"/>
            <a:ext cx="11430000" cy="1554480"/>
          </a:xfrm>
          <a:prstGeom prst="rect">
            <a:avLst/>
          </a:prstGeom>
          <a:solidFill>
            <a:srgbClr val="1A2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719072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B4D8"/>
                </a:solidFill>
                <a:latin typeface="Calibri"/>
              </a:rPr>
              <a:t>🗄  MySQL Relational Database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14884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AD3E0"/>
                </a:solidFill>
                <a:latin typeface="Calibri"/>
              </a:rPr>
              <a:t>The system uses MySQL 8 as its relational database management system (RDBMS). MySQL is an open-source, enterprise-grade relational database that stores data in structured tables with defined relationships, enforcing data integrity through foreign keys and constraints.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3337560"/>
            <a:ext cx="5486400" cy="868680"/>
          </a:xfrm>
          <a:prstGeom prst="rect">
            <a:avLst/>
          </a:prstGeom>
          <a:solidFill>
            <a:srgbClr val="14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3401568"/>
            <a:ext cx="5120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B4D8"/>
                </a:solidFill>
                <a:latin typeface="Calibri"/>
              </a:rPr>
              <a:t>Database Name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730752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campus_incidents_db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72200" y="3337560"/>
            <a:ext cx="5486400" cy="868680"/>
          </a:xfrm>
          <a:prstGeom prst="rect">
            <a:avLst/>
          </a:prstGeom>
          <a:solidFill>
            <a:srgbClr val="14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5080" y="3401568"/>
            <a:ext cx="5120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B4D8"/>
                </a:solidFill>
                <a:latin typeface="Calibri"/>
              </a:rPr>
              <a:t>Engine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3730752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InnoDB (supports FK &amp; ACID transactions)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4389120"/>
            <a:ext cx="5486400" cy="868680"/>
          </a:xfrm>
          <a:prstGeom prst="rect">
            <a:avLst/>
          </a:prstGeom>
          <a:solidFill>
            <a:srgbClr val="14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4453128"/>
            <a:ext cx="5120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B4D8"/>
                </a:solidFill>
                <a:latin typeface="Calibri"/>
              </a:rPr>
              <a:t>Charset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4782312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utf8mb4 — full Unicode support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72200" y="4389120"/>
            <a:ext cx="5486400" cy="868680"/>
          </a:xfrm>
          <a:prstGeom prst="rect">
            <a:avLst/>
          </a:prstGeom>
          <a:solidFill>
            <a:srgbClr val="14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55080" y="4453128"/>
            <a:ext cx="5120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B4D8"/>
                </a:solidFill>
                <a:latin typeface="Calibri"/>
              </a:rPr>
              <a:t>Collation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5080" y="4782312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utf8mb4_unicode_ci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5440679"/>
            <a:ext cx="5486400" cy="868680"/>
          </a:xfrm>
          <a:prstGeom prst="rect">
            <a:avLst/>
          </a:prstGeom>
          <a:solidFill>
            <a:srgbClr val="14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5504688"/>
            <a:ext cx="5120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B4D8"/>
                </a:solidFill>
                <a:latin typeface="Calibri"/>
              </a:rPr>
              <a:t>Connection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5833871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PyMySQL via SQLAlchemy ORM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72200" y="5440679"/>
            <a:ext cx="5486400" cy="868680"/>
          </a:xfrm>
          <a:prstGeom prst="rect">
            <a:avLst/>
          </a:prstGeom>
          <a:solidFill>
            <a:srgbClr val="14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55080" y="5504688"/>
            <a:ext cx="5120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B4D8"/>
                </a:solidFill>
                <a:latin typeface="Calibri"/>
              </a:rPr>
              <a:t>Auth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55080" y="5833871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PBKDF2-SHA256 password hashing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78992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AD3E0"/>
                </a:solidFill>
                <a:latin typeface="Calibri"/>
              </a:rPr>
              <a:t>05 / 14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88952" cy="6400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4D8"/>
                </a:solidFill>
                <a:latin typeface="Calibri"/>
              </a:rPr>
              <a:t>DATABASE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30352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Database Tables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389888"/>
            <a:ext cx="11430000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581912"/>
            <a:ext cx="5394960" cy="38404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627632"/>
            <a:ext cx="50292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1B2A"/>
                </a:solidFill>
                <a:latin typeface="Calibri"/>
              </a:rPr>
              <a:t>👤  users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965960"/>
            <a:ext cx="5394960" cy="521207"/>
          </a:xfrm>
          <a:prstGeom prst="rect">
            <a:avLst/>
          </a:prstGeom>
          <a:solidFill>
            <a:srgbClr val="122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2011680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90E0EF"/>
                </a:solidFill>
                <a:latin typeface="Calibri"/>
              </a:rPr>
              <a:t>user_id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77440" y="2011680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D600"/>
                </a:solidFill>
                <a:latin typeface="Calibri"/>
              </a:rPr>
              <a:t>INT UNSIGNED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77639" y="2011680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AD3E0"/>
                </a:solidFill>
                <a:latin typeface="Calibri"/>
              </a:rPr>
              <a:t>PK, AUTO_INCREMENT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2505456"/>
            <a:ext cx="5394960" cy="521207"/>
          </a:xfrm>
          <a:prstGeom prst="rect">
            <a:avLst/>
          </a:prstGeom>
          <a:solidFill>
            <a:srgbClr val="1A2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2551176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90E0EF"/>
                </a:solidFill>
                <a:latin typeface="Calibri"/>
              </a:rPr>
              <a:t>email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77440" y="2551176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D600"/>
                </a:solidFill>
                <a:latin typeface="Calibri"/>
              </a:rPr>
              <a:t>VARCHAR(120)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77639" y="2551176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AD3E0"/>
                </a:solidFill>
                <a:latin typeface="Calibri"/>
              </a:rPr>
              <a:t>UNIQUE, NOT NULL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3044952"/>
            <a:ext cx="5394960" cy="521207"/>
          </a:xfrm>
          <a:prstGeom prst="rect">
            <a:avLst/>
          </a:prstGeom>
          <a:solidFill>
            <a:srgbClr val="122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3090672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90E0EF"/>
                </a:solidFill>
                <a:latin typeface="Calibri"/>
              </a:rPr>
              <a:t>password_hash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77440" y="3090672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D600"/>
                </a:solidFill>
                <a:latin typeface="Calibri"/>
              </a:rPr>
              <a:t>VARCHAR(255)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977639" y="3090672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AD3E0"/>
                </a:solidFill>
                <a:latin typeface="Calibri"/>
              </a:rPr>
              <a:t>Werkzeug hash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3584448"/>
            <a:ext cx="5394960" cy="521207"/>
          </a:xfrm>
          <a:prstGeom prst="rect">
            <a:avLst/>
          </a:prstGeom>
          <a:solidFill>
            <a:srgbClr val="1A2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3630168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90E0EF"/>
                </a:solidFill>
                <a:latin typeface="Calibri"/>
              </a:rPr>
              <a:t>first_name / last_name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377440" y="3630168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D600"/>
                </a:solidFill>
                <a:latin typeface="Calibri"/>
              </a:rPr>
              <a:t>VARCHAR(100)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977639" y="3630168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AD3E0"/>
                </a:solidFill>
                <a:latin typeface="Calibri"/>
              </a:rPr>
              <a:t>NOT NULL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4123944"/>
            <a:ext cx="5394960" cy="521207"/>
          </a:xfrm>
          <a:prstGeom prst="rect">
            <a:avLst/>
          </a:prstGeom>
          <a:solidFill>
            <a:srgbClr val="122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2920" y="4169664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90E0EF"/>
                </a:solidFill>
                <a:latin typeface="Calibri"/>
              </a:rPr>
              <a:t>role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377440" y="4169664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D600"/>
                </a:solidFill>
                <a:latin typeface="Calibri"/>
              </a:rPr>
              <a:t>ENUM('admin','staff')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977639" y="4169664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AD3E0"/>
                </a:solidFill>
                <a:latin typeface="Calibri"/>
              </a:rPr>
              <a:t>DEFAULT 'staff'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" y="4663440"/>
            <a:ext cx="5394960" cy="521207"/>
          </a:xfrm>
          <a:prstGeom prst="rect">
            <a:avLst/>
          </a:prstGeom>
          <a:solidFill>
            <a:srgbClr val="1A2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02920" y="4709160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90E0EF"/>
                </a:solidFill>
                <a:latin typeface="Calibri"/>
              </a:rPr>
              <a:t>phone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377440" y="4709160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D600"/>
                </a:solidFill>
                <a:latin typeface="Calibri"/>
              </a:rPr>
              <a:t>VARCHAR(20)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977639" y="4709160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AD3E0"/>
                </a:solidFill>
                <a:latin typeface="Calibri"/>
              </a:rPr>
              <a:t>NULL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5202936"/>
            <a:ext cx="5394960" cy="521207"/>
          </a:xfrm>
          <a:prstGeom prst="rect">
            <a:avLst/>
          </a:prstGeom>
          <a:solidFill>
            <a:srgbClr val="122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2920" y="5248656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90E0EF"/>
                </a:solidFill>
                <a:latin typeface="Calibri"/>
              </a:rPr>
              <a:t>is_active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377440" y="5248656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D600"/>
                </a:solidFill>
                <a:latin typeface="Calibri"/>
              </a:rPr>
              <a:t>TINYINT(1)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977639" y="5248656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AD3E0"/>
                </a:solidFill>
                <a:latin typeface="Calibri"/>
              </a:rPr>
              <a:t>DEFAULT 1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65760" y="5742431"/>
            <a:ext cx="5394960" cy="521207"/>
          </a:xfrm>
          <a:prstGeom prst="rect">
            <a:avLst/>
          </a:prstGeom>
          <a:solidFill>
            <a:srgbClr val="1A2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02920" y="5788152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90E0EF"/>
                </a:solidFill>
                <a:latin typeface="Calibri"/>
              </a:rPr>
              <a:t>created_at / updated_at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377440" y="5788152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D600"/>
                </a:solidFill>
                <a:latin typeface="Calibri"/>
              </a:rPr>
              <a:t>DATETIME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977639" y="5788152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AD3E0"/>
                </a:solidFill>
                <a:latin typeface="Calibri"/>
              </a:rPr>
              <a:t>Auto-managed timestamps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217920" y="1581912"/>
            <a:ext cx="5577840" cy="384048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00800" y="1627632"/>
            <a:ext cx="53035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1B2A"/>
                </a:solidFill>
                <a:latin typeface="Calibri"/>
              </a:rPr>
              <a:t>📄  incidents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217920" y="1965960"/>
            <a:ext cx="5577840" cy="384048"/>
          </a:xfrm>
          <a:prstGeom prst="rect">
            <a:avLst/>
          </a:prstGeom>
          <a:solidFill>
            <a:srgbClr val="122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355080" y="2011679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90E0EF"/>
                </a:solidFill>
                <a:latin typeface="Calibri"/>
              </a:rPr>
              <a:t>id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229600" y="2011679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D600"/>
                </a:solidFill>
                <a:latin typeface="Calibri"/>
              </a:rPr>
              <a:t>INT UNSIGNED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012680" y="2011679"/>
            <a:ext cx="1691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AD3E0"/>
                </a:solidFill>
                <a:latin typeface="Calibri"/>
              </a:rPr>
              <a:t>PK, AUTO_INCREMENT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217920" y="2368296"/>
            <a:ext cx="5577840" cy="384048"/>
          </a:xfrm>
          <a:prstGeom prst="rect">
            <a:avLst/>
          </a:prstGeom>
          <a:solidFill>
            <a:srgbClr val="1A2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355080" y="2414015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90E0EF"/>
                </a:solidFill>
                <a:latin typeface="Calibri"/>
              </a:rPr>
              <a:t>incident_id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229600" y="2414015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D600"/>
                </a:solidFill>
                <a:latin typeface="Calibri"/>
              </a:rPr>
              <a:t>VARCHAR(30)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012680" y="2414015"/>
            <a:ext cx="1691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AD3E0"/>
                </a:solidFill>
                <a:latin typeface="Calibri"/>
              </a:rPr>
              <a:t>UNIQUE identifier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217920" y="2770632"/>
            <a:ext cx="5577840" cy="384048"/>
          </a:xfrm>
          <a:prstGeom prst="rect">
            <a:avLst/>
          </a:prstGeom>
          <a:solidFill>
            <a:srgbClr val="122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355080" y="2816351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90E0EF"/>
                </a:solidFill>
                <a:latin typeface="Calibri"/>
              </a:rPr>
              <a:t>date / time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229600" y="2816351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D600"/>
                </a:solidFill>
                <a:latin typeface="Calibri"/>
              </a:rPr>
              <a:t>DATE / TIME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012680" y="2816351"/>
            <a:ext cx="1691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AD3E0"/>
                </a:solidFill>
                <a:latin typeface="Calibri"/>
              </a:rPr>
              <a:t>NOT NULL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217920" y="3172968"/>
            <a:ext cx="5577840" cy="384048"/>
          </a:xfrm>
          <a:prstGeom prst="rect">
            <a:avLst/>
          </a:prstGeom>
          <a:solidFill>
            <a:srgbClr val="1A2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355080" y="3218687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90E0EF"/>
                </a:solidFill>
                <a:latin typeface="Calibri"/>
              </a:rPr>
              <a:t>location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229600" y="3218687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D600"/>
                </a:solidFill>
                <a:latin typeface="Calibri"/>
              </a:rPr>
              <a:t>VARCHAR(255)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012680" y="3218687"/>
            <a:ext cx="1691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AD3E0"/>
                </a:solidFill>
                <a:latin typeface="Calibri"/>
              </a:rPr>
              <a:t>NOT NULL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217920" y="3575304"/>
            <a:ext cx="5577840" cy="384048"/>
          </a:xfrm>
          <a:prstGeom prst="rect">
            <a:avLst/>
          </a:prstGeom>
          <a:solidFill>
            <a:srgbClr val="122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355080" y="3621024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90E0EF"/>
                </a:solidFill>
                <a:latin typeface="Calibri"/>
              </a:rPr>
              <a:t>cause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229600" y="3621024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D600"/>
                </a:solidFill>
                <a:latin typeface="Calibri"/>
              </a:rPr>
              <a:t>VARCHAR(255)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0012680" y="3621024"/>
            <a:ext cx="1691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AD3E0"/>
                </a:solidFill>
                <a:latin typeface="Calibri"/>
              </a:rPr>
              <a:t>NOT NULL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217920" y="3977639"/>
            <a:ext cx="5577840" cy="384048"/>
          </a:xfrm>
          <a:prstGeom prst="rect">
            <a:avLst/>
          </a:prstGeom>
          <a:solidFill>
            <a:srgbClr val="1A2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355080" y="4023359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90E0EF"/>
                </a:solidFill>
                <a:latin typeface="Calibri"/>
              </a:rPr>
              <a:t>description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229600" y="4023359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D600"/>
                </a:solidFill>
                <a:latin typeface="Calibri"/>
              </a:rPr>
              <a:t>LONGTEXT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0012680" y="4023359"/>
            <a:ext cx="1691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AD3E0"/>
                </a:solidFill>
                <a:latin typeface="Calibri"/>
              </a:rPr>
              <a:t>NOT NULL</a:t>
            </a:r>
          </a:p>
        </p:txBody>
      </p:sp>
      <p:sp>
        <p:nvSpPr>
          <p:cNvPr id="67" name="Rectangle 66"/>
          <p:cNvSpPr/>
          <p:nvPr/>
        </p:nvSpPr>
        <p:spPr>
          <a:xfrm>
            <a:off x="6217920" y="4379976"/>
            <a:ext cx="5577840" cy="384048"/>
          </a:xfrm>
          <a:prstGeom prst="rect">
            <a:avLst/>
          </a:prstGeom>
          <a:solidFill>
            <a:srgbClr val="122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6355080" y="4425696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90E0EF"/>
                </a:solidFill>
                <a:latin typeface="Calibri"/>
              </a:rPr>
              <a:t>file_data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229600" y="4425696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D600"/>
                </a:solidFill>
                <a:latin typeface="Calibri"/>
              </a:rPr>
              <a:t>LONGBLOB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0012680" y="4425696"/>
            <a:ext cx="1691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AD3E0"/>
                </a:solidFill>
                <a:latin typeface="Calibri"/>
              </a:rPr>
              <a:t>Binary file storage</a:t>
            </a:r>
          </a:p>
        </p:txBody>
      </p:sp>
      <p:sp>
        <p:nvSpPr>
          <p:cNvPr id="71" name="Rectangle 70"/>
          <p:cNvSpPr/>
          <p:nvPr/>
        </p:nvSpPr>
        <p:spPr>
          <a:xfrm>
            <a:off x="6217920" y="4782312"/>
            <a:ext cx="5577840" cy="384048"/>
          </a:xfrm>
          <a:prstGeom prst="rect">
            <a:avLst/>
          </a:prstGeom>
          <a:solidFill>
            <a:srgbClr val="1A2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6355080" y="4828032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90E0EF"/>
                </a:solidFill>
                <a:latin typeface="Calibri"/>
              </a:rPr>
              <a:t>file_name / file_mime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229600" y="4828032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D600"/>
                </a:solidFill>
                <a:latin typeface="Calibri"/>
              </a:rPr>
              <a:t>VARCHAR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0012680" y="4828032"/>
            <a:ext cx="1691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AD3E0"/>
                </a:solidFill>
                <a:latin typeface="Calibri"/>
              </a:rPr>
              <a:t>For download headers</a:t>
            </a:r>
          </a:p>
        </p:txBody>
      </p:sp>
      <p:sp>
        <p:nvSpPr>
          <p:cNvPr id="75" name="Rectangle 74"/>
          <p:cNvSpPr/>
          <p:nvPr/>
        </p:nvSpPr>
        <p:spPr>
          <a:xfrm>
            <a:off x="6217920" y="5184648"/>
            <a:ext cx="5577840" cy="384048"/>
          </a:xfrm>
          <a:prstGeom prst="rect">
            <a:avLst/>
          </a:prstGeom>
          <a:solidFill>
            <a:srgbClr val="122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6355080" y="5230368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90E0EF"/>
                </a:solidFill>
                <a:latin typeface="Calibri"/>
              </a:rPr>
              <a:t>supporting_file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8229600" y="5230368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D600"/>
                </a:solidFill>
                <a:latin typeface="Calibri"/>
              </a:rPr>
              <a:t>VARCHAR(255)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10012680" y="5230368"/>
            <a:ext cx="1691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AD3E0"/>
                </a:solidFill>
                <a:latin typeface="Calibri"/>
              </a:rPr>
              <a:t>Legacy FS path</a:t>
            </a:r>
          </a:p>
        </p:txBody>
      </p:sp>
      <p:sp>
        <p:nvSpPr>
          <p:cNvPr id="79" name="Rectangle 78"/>
          <p:cNvSpPr/>
          <p:nvPr/>
        </p:nvSpPr>
        <p:spPr>
          <a:xfrm>
            <a:off x="6217920" y="5586983"/>
            <a:ext cx="5577840" cy="384048"/>
          </a:xfrm>
          <a:prstGeom prst="rect">
            <a:avLst/>
          </a:prstGeom>
          <a:solidFill>
            <a:srgbClr val="1A2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6355080" y="5632703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90E0EF"/>
                </a:solidFill>
                <a:latin typeface="Calibri"/>
              </a:rPr>
              <a:t>status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8229600" y="5632703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D600"/>
                </a:solidFill>
                <a:latin typeface="Calibri"/>
              </a:rPr>
              <a:t>ENUM(Pending…)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012680" y="5632703"/>
            <a:ext cx="1691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AD3E0"/>
                </a:solidFill>
                <a:latin typeface="Calibri"/>
              </a:rPr>
              <a:t>NOT NULL DEFAULT Pending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217920" y="5989320"/>
            <a:ext cx="5577840" cy="384048"/>
          </a:xfrm>
          <a:prstGeom prst="rect">
            <a:avLst/>
          </a:prstGeom>
          <a:solidFill>
            <a:srgbClr val="122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355080" y="6035040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90E0EF"/>
                </a:solidFill>
                <a:latin typeface="Calibri"/>
              </a:rPr>
              <a:t>reported_by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8229600" y="6035040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D600"/>
                </a:solidFill>
                <a:latin typeface="Calibri"/>
              </a:rPr>
              <a:t>INT UNSIGNED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10012680" y="6035040"/>
            <a:ext cx="1691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AD3E0"/>
                </a:solidFill>
                <a:latin typeface="Calibri"/>
              </a:rPr>
              <a:t>FK → users.user_id</a:t>
            </a:r>
          </a:p>
        </p:txBody>
      </p:sp>
      <p:sp>
        <p:nvSpPr>
          <p:cNvPr id="87" name="Rectangle 86"/>
          <p:cNvSpPr/>
          <p:nvPr/>
        </p:nvSpPr>
        <p:spPr>
          <a:xfrm>
            <a:off x="6217920" y="6391656"/>
            <a:ext cx="5577840" cy="384048"/>
          </a:xfrm>
          <a:prstGeom prst="rect">
            <a:avLst/>
          </a:prstGeom>
          <a:solidFill>
            <a:srgbClr val="1A2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6355080" y="6437376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90E0EF"/>
                </a:solidFill>
                <a:latin typeface="Calibri"/>
              </a:rPr>
              <a:t>created_at / updated_at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8229600" y="6437376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D600"/>
                </a:solidFill>
                <a:latin typeface="Calibri"/>
              </a:rPr>
              <a:t>DATETIME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10012680" y="6437376"/>
            <a:ext cx="1691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AD3E0"/>
                </a:solidFill>
                <a:latin typeface="Calibri"/>
              </a:rPr>
              <a:t>Timestamps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1078992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AD3E0"/>
                </a:solidFill>
                <a:latin typeface="Calibri"/>
              </a:rPr>
              <a:t>06 / 14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88952" cy="6400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4D8"/>
                </a:solidFill>
                <a:latin typeface="Calibri"/>
              </a:rPr>
              <a:t>DATABASE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30352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Table Relationships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389888"/>
            <a:ext cx="11430000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645920"/>
            <a:ext cx="3657600" cy="4114800"/>
          </a:xfrm>
          <a:prstGeom prst="rect">
            <a:avLst/>
          </a:prstGeom>
          <a:solidFill>
            <a:srgbClr val="1A2D42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719072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B4D8"/>
                </a:solidFill>
                <a:latin typeface="Calibri"/>
              </a:rPr>
              <a:t>users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212848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D600"/>
                </a:solidFill>
                <a:latin typeface="Calibri"/>
              </a:rPr>
              <a:t>PK  user_id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551176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AD3E0"/>
                </a:solidFill>
                <a:latin typeface="Calibri"/>
              </a:rPr>
              <a:t>email (UQ)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889504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AD3E0"/>
                </a:solidFill>
                <a:latin typeface="Calibri"/>
              </a:rPr>
              <a:t>password_hash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227832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AD3E0"/>
                </a:solidFill>
                <a:latin typeface="Calibri"/>
              </a:rPr>
              <a:t>first_name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56616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AD3E0"/>
                </a:solidFill>
                <a:latin typeface="Calibri"/>
              </a:rPr>
              <a:t>last_name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904487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AD3E0"/>
                </a:solidFill>
                <a:latin typeface="Calibri"/>
              </a:rPr>
              <a:t>role (admin/staff)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242816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AD3E0"/>
                </a:solidFill>
                <a:latin typeface="Calibri"/>
              </a:rPr>
              <a:t>phone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581144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AD3E0"/>
                </a:solidFill>
                <a:latin typeface="Calibri"/>
              </a:rPr>
              <a:t>is_active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919472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AD3E0"/>
                </a:solidFill>
                <a:latin typeface="Calibri"/>
              </a:rPr>
              <a:t>created_at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525780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AD3E0"/>
                </a:solidFill>
                <a:latin typeface="Calibri"/>
              </a:rPr>
              <a:t>updated_at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97680" y="310896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0B4D8"/>
                </a:solidFill>
                <a:latin typeface="Calibri"/>
              </a:rPr>
              <a:t>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34840" y="324612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0B4D8"/>
                </a:solidFill>
                <a:latin typeface="Calibri"/>
              </a:rPr>
              <a:t>─────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0" y="310896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6D6A0"/>
                </a:solidFill>
                <a:latin typeface="Calibri"/>
              </a:rPr>
              <a:t>∞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5989320"/>
            <a:ext cx="9144000" cy="457200"/>
          </a:xfrm>
          <a:prstGeom prst="rect">
            <a:avLst/>
          </a:prstGeom>
          <a:solidFill>
            <a:srgbClr val="1A2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6053328"/>
            <a:ext cx="8961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0E0EF"/>
                </a:solidFill>
                <a:latin typeface="Calibri"/>
              </a:rPr>
              <a:t>FK Constraint:  incidents.reported_by  →  users.user_id  |  ON UPDATE CASCADE  |  ON DELETE RESTRICT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17920" y="1645920"/>
            <a:ext cx="5394960" cy="4114800"/>
          </a:xfrm>
          <a:prstGeom prst="rect">
            <a:avLst/>
          </a:prstGeom>
          <a:solidFill>
            <a:srgbClr val="1A2D42"/>
          </a:solidFill>
          <a:ln w="19050">
            <a:solidFill>
              <a:srgbClr val="06D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0" y="1719072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6D6A0"/>
                </a:solidFill>
                <a:latin typeface="Calibri"/>
              </a:rPr>
              <a:t>incidents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2212848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D600"/>
                </a:solidFill>
                <a:latin typeface="Calibri"/>
              </a:rPr>
              <a:t>PK  id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2551176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AD3E0"/>
                </a:solidFill>
                <a:latin typeface="Calibri"/>
              </a:rPr>
              <a:t>incident_id (UQ)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2889504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AD3E0"/>
                </a:solidFill>
                <a:latin typeface="Calibri"/>
              </a:rPr>
              <a:t>date / time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3227832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AD3E0"/>
                </a:solidFill>
                <a:latin typeface="Calibri"/>
              </a:rPr>
              <a:t>location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356616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AD3E0"/>
                </a:solidFill>
                <a:latin typeface="Calibri"/>
              </a:rPr>
              <a:t>cause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3904487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AD3E0"/>
                </a:solidFill>
                <a:latin typeface="Calibri"/>
              </a:rPr>
              <a:t>description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0" y="4242816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AD3E0"/>
                </a:solidFill>
                <a:latin typeface="Calibri"/>
              </a:rPr>
              <a:t>file_data (BLOB)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0" y="4581144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AD3E0"/>
                </a:solidFill>
                <a:latin typeface="Calibri"/>
              </a:rPr>
              <a:t>status (ENUM)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0" y="4919472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9040"/>
                </a:solidFill>
                <a:latin typeface="Calibri"/>
              </a:rPr>
              <a:t>FK  reported_by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0" y="525780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AD3E0"/>
                </a:solidFill>
                <a:latin typeface="Calibri"/>
              </a:rPr>
              <a:t>created_at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65760" y="6446520"/>
            <a:ext cx="11430000" cy="338328"/>
          </a:xfrm>
          <a:prstGeom prst="rect">
            <a:avLst/>
          </a:prstGeom>
          <a:solidFill>
            <a:srgbClr val="06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48640" y="6492240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90E0EF"/>
                </a:solidFill>
                <a:latin typeface="Calibri"/>
              </a:rPr>
              <a:t>Cardinality:  ONE user can report MANY incidents  (1 : N relationship)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78992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AD3E0"/>
                </a:solidFill>
                <a:latin typeface="Calibri"/>
              </a:rPr>
              <a:t>07 / 14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88952" cy="6400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4D8"/>
                </a:solidFill>
                <a:latin typeface="Calibri"/>
              </a:rPr>
              <a:t>DATABASE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30352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Entity-Relationship Diagram (ERD)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389888"/>
            <a:ext cx="11430000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645920"/>
            <a:ext cx="3840480" cy="4480560"/>
          </a:xfrm>
          <a:prstGeom prst="rect">
            <a:avLst/>
          </a:prstGeom>
          <a:solidFill>
            <a:srgbClr val="1A2D42"/>
          </a:solidFill>
          <a:ln w="254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45920"/>
            <a:ext cx="3840480" cy="41148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691640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D1B2A"/>
                </a:solidFill>
                <a:latin typeface="Calibri"/>
              </a:rPr>
              <a:t>USERS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148840"/>
            <a:ext cx="3657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D600"/>
                </a:solidFill>
                <a:latin typeface="Calibri"/>
              </a:rPr>
              <a:t>PK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148840"/>
            <a:ext cx="18288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user_id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80360" y="2148840"/>
            <a:ext cx="14173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CAD3E0"/>
                </a:solidFill>
                <a:latin typeface="Calibri"/>
              </a:rPr>
              <a:t>INT UNSIGNED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542032"/>
            <a:ext cx="3657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CAD3E0"/>
                </a:solidFill>
                <a:latin typeface="Calibri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2542032"/>
            <a:ext cx="18288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email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80360" y="2542032"/>
            <a:ext cx="14173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CAD3E0"/>
                </a:solidFill>
                <a:latin typeface="Calibri"/>
              </a:rPr>
              <a:t>VARCHAR(120)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2935224"/>
            <a:ext cx="3657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CAD3E0"/>
                </a:solidFill>
                <a:latin typeface="Calibri"/>
              </a:rPr>
              <a:t/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2935224"/>
            <a:ext cx="18288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password_hash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80360" y="2935224"/>
            <a:ext cx="14173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CAD3E0"/>
                </a:solidFill>
                <a:latin typeface="Calibri"/>
              </a:rPr>
              <a:t>VARCHAR(255)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3328416"/>
            <a:ext cx="3657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CAD3E0"/>
                </a:solidFill>
                <a:latin typeface="Calibri"/>
              </a:rPr>
              <a:t/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3328416"/>
            <a:ext cx="18288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first_name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880360" y="3328416"/>
            <a:ext cx="14173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CAD3E0"/>
                </a:solidFill>
                <a:latin typeface="Calibri"/>
              </a:rPr>
              <a:t>VARCHAR(100)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3721608"/>
            <a:ext cx="3657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CAD3E0"/>
                </a:solidFill>
                <a:latin typeface="Calibri"/>
              </a:rPr>
              <a:t/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" y="3721608"/>
            <a:ext cx="18288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last_name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880360" y="3721608"/>
            <a:ext cx="14173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CAD3E0"/>
                </a:solidFill>
                <a:latin typeface="Calibri"/>
              </a:rPr>
              <a:t>VARCHAR(100)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4114800"/>
            <a:ext cx="3657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CAD3E0"/>
                </a:solidFill>
                <a:latin typeface="Calibri"/>
              </a:rPr>
              <a:t/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4114800"/>
            <a:ext cx="18288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role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880360" y="4114800"/>
            <a:ext cx="14173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CAD3E0"/>
                </a:solidFill>
                <a:latin typeface="Calibri"/>
              </a:rPr>
              <a:t>ENUM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4507992"/>
            <a:ext cx="3657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CAD3E0"/>
                </a:solidFill>
                <a:latin typeface="Calibri"/>
              </a:rPr>
              <a:t/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05840" y="4507992"/>
            <a:ext cx="18288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phone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880360" y="4507992"/>
            <a:ext cx="14173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CAD3E0"/>
                </a:solidFill>
                <a:latin typeface="Calibri"/>
              </a:rPr>
              <a:t>VARCHAR(20)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4901183"/>
            <a:ext cx="3657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CAD3E0"/>
                </a:solidFill>
                <a:latin typeface="Calibri"/>
              </a:rPr>
              <a:t/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5840" y="4901183"/>
            <a:ext cx="18288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is_active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880360" y="4901183"/>
            <a:ext cx="14173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CAD3E0"/>
                </a:solidFill>
                <a:latin typeface="Calibri"/>
              </a:rPr>
              <a:t>TINYINT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" y="5294376"/>
            <a:ext cx="3657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CAD3E0"/>
                </a:solidFill>
                <a:latin typeface="Calibri"/>
              </a:rPr>
              <a:t/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05840" y="5294376"/>
            <a:ext cx="18288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created_at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880360" y="5294376"/>
            <a:ext cx="14173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CAD3E0"/>
                </a:solidFill>
                <a:latin typeface="Calibri"/>
              </a:rPr>
              <a:t>DATETIME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" y="5687568"/>
            <a:ext cx="3657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CAD3E0"/>
                </a:solidFill>
                <a:latin typeface="Calibri"/>
              </a:rPr>
              <a:t/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05840" y="5687568"/>
            <a:ext cx="18288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updated_at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880360" y="5687568"/>
            <a:ext cx="14173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CAD3E0"/>
                </a:solidFill>
                <a:latin typeface="Calibri"/>
              </a:rPr>
              <a:t>DATETIME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526280" y="3291840"/>
            <a:ext cx="1371600" cy="7772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572000" y="3337560"/>
            <a:ext cx="1325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B4D8"/>
                </a:solidFill>
                <a:latin typeface="Calibri"/>
              </a:rPr>
              <a:t>REPORTS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279392" y="352044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B4D8"/>
                </a:solidFill>
                <a:latin typeface="Calibri"/>
              </a:rPr>
              <a:t>1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943600" y="352044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6D6A0"/>
                </a:solidFill>
                <a:latin typeface="Calibri"/>
              </a:rPr>
              <a:t>N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309360" y="1645920"/>
            <a:ext cx="5029200" cy="4480560"/>
          </a:xfrm>
          <a:prstGeom prst="rect">
            <a:avLst/>
          </a:prstGeom>
          <a:solidFill>
            <a:srgbClr val="1A2D42"/>
          </a:solidFill>
          <a:ln w="25400">
            <a:solidFill>
              <a:srgbClr val="06D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309360" y="1645920"/>
            <a:ext cx="5029200" cy="411480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446520" y="1691640"/>
            <a:ext cx="4709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D1B2A"/>
                </a:solidFill>
                <a:latin typeface="Calibri"/>
              </a:rPr>
              <a:t>INCIDENTS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382512" y="2148840"/>
            <a:ext cx="3657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D600"/>
                </a:solidFill>
                <a:latin typeface="Calibri"/>
              </a:rPr>
              <a:t>PK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748272" y="2148840"/>
            <a:ext cx="22860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id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098280" y="2148840"/>
            <a:ext cx="21488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CAD3E0"/>
                </a:solidFill>
                <a:latin typeface="Calibri"/>
              </a:rPr>
              <a:t>INT UNSIGNED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382512" y="2542032"/>
            <a:ext cx="3657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CAD3E0"/>
                </a:solidFill>
                <a:latin typeface="Calibri"/>
              </a:rPr>
              <a:t/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748272" y="2542032"/>
            <a:ext cx="22860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incident_id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098280" y="2542032"/>
            <a:ext cx="21488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CAD3E0"/>
                </a:solidFill>
                <a:latin typeface="Calibri"/>
              </a:rPr>
              <a:t>VARCHAR(30)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382512" y="2935224"/>
            <a:ext cx="3657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CAD3E0"/>
                </a:solidFill>
                <a:latin typeface="Calibri"/>
              </a:rPr>
              <a:t/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748272" y="2935224"/>
            <a:ext cx="22860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date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098280" y="2935224"/>
            <a:ext cx="21488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CAD3E0"/>
                </a:solidFill>
                <a:latin typeface="Calibri"/>
              </a:rPr>
              <a:t>DATE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382512" y="3328416"/>
            <a:ext cx="3657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CAD3E0"/>
                </a:solidFill>
                <a:latin typeface="Calibri"/>
              </a:rPr>
              <a:t/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748272" y="3328416"/>
            <a:ext cx="22860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time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098280" y="3328416"/>
            <a:ext cx="21488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CAD3E0"/>
                </a:solidFill>
                <a:latin typeface="Calibri"/>
              </a:rPr>
              <a:t>TIME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382512" y="3721608"/>
            <a:ext cx="3657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CAD3E0"/>
                </a:solidFill>
                <a:latin typeface="Calibri"/>
              </a:rPr>
              <a:t/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748272" y="3721608"/>
            <a:ext cx="22860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location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098280" y="3721608"/>
            <a:ext cx="21488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CAD3E0"/>
                </a:solidFill>
                <a:latin typeface="Calibri"/>
              </a:rPr>
              <a:t>VARCHAR(255)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382512" y="4114800"/>
            <a:ext cx="3657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CAD3E0"/>
                </a:solidFill>
                <a:latin typeface="Calibri"/>
              </a:rPr>
              <a:t/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748272" y="4114800"/>
            <a:ext cx="22860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cause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098280" y="4114800"/>
            <a:ext cx="21488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CAD3E0"/>
                </a:solidFill>
                <a:latin typeface="Calibri"/>
              </a:rPr>
              <a:t>VARCHAR(255)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382512" y="4507992"/>
            <a:ext cx="3657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CAD3E0"/>
                </a:solidFill>
                <a:latin typeface="Calibri"/>
              </a:rPr>
              <a:t/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748272" y="4507992"/>
            <a:ext cx="22860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description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098280" y="4507992"/>
            <a:ext cx="21488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CAD3E0"/>
                </a:solidFill>
                <a:latin typeface="Calibri"/>
              </a:rPr>
              <a:t>LONGTEXT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382512" y="4901183"/>
            <a:ext cx="3657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CAD3E0"/>
                </a:solidFill>
                <a:latin typeface="Calibri"/>
              </a:rPr>
              <a:t/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748272" y="4901183"/>
            <a:ext cx="22860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file_data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9098280" y="4901183"/>
            <a:ext cx="21488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CAD3E0"/>
                </a:solidFill>
                <a:latin typeface="Calibri"/>
              </a:rPr>
              <a:t>LONGBLOB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382512" y="5294376"/>
            <a:ext cx="3657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CAD3E0"/>
                </a:solidFill>
                <a:latin typeface="Calibri"/>
              </a:rPr>
              <a:t/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748272" y="5294376"/>
            <a:ext cx="22860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status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9098280" y="5294376"/>
            <a:ext cx="21488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CAD3E0"/>
                </a:solidFill>
                <a:latin typeface="Calibri"/>
              </a:rPr>
              <a:t>ENUM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382512" y="5687568"/>
            <a:ext cx="3657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9040"/>
                </a:solidFill>
                <a:latin typeface="Calibri"/>
              </a:rPr>
              <a:t>FK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748272" y="5687568"/>
            <a:ext cx="22860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reported_by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9098280" y="5687568"/>
            <a:ext cx="21488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CAD3E0"/>
                </a:solidFill>
                <a:latin typeface="Calibri"/>
              </a:rPr>
              <a:t>INT UNSIGNED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078992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AD3E0"/>
                </a:solidFill>
                <a:latin typeface="Calibri"/>
              </a:rPr>
              <a:t>08 / 14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88952" cy="6400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4D8"/>
                </a:solidFill>
                <a:latin typeface="Calibri"/>
              </a:rPr>
              <a:t>DATABASE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30352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Database Normalization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389888"/>
            <a:ext cx="11430000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581912"/>
            <a:ext cx="11430000" cy="1572768"/>
          </a:xfrm>
          <a:prstGeom prst="rect">
            <a:avLst/>
          </a:prstGeom>
          <a:solidFill>
            <a:srgbClr val="1A2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581912"/>
            <a:ext cx="1005840" cy="157276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2039112"/>
            <a:ext cx="1005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D1B2A"/>
                </a:solidFill>
                <a:latin typeface="Calibri"/>
              </a:rPr>
              <a:t>1NF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1655064"/>
            <a:ext cx="9875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4D8"/>
                </a:solidFill>
                <a:latin typeface="Calibri"/>
              </a:rPr>
              <a:t>First Normal Form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2020824"/>
            <a:ext cx="9875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CAD3E0"/>
                </a:solidFill>
                <a:latin typeface="Calibri"/>
              </a:rPr>
              <a:t>Rule: "Each column must hold atomic (indivisible) values; no repeating groups."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8760" y="2386584"/>
            <a:ext cx="9875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  •  Each row in users and incidents holds exactly one value per column.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08760" y="2606040"/>
            <a:ext cx="9875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  •  first_name and last_name are stored as separate columns (atomic).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08760" y="2825496"/>
            <a:ext cx="4754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  •  file_name, file_mime, file_data are individual columns — not arrays.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0" y="2825496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  •  Every row is uniquely identified by its primary key (user_id / id).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3227832"/>
            <a:ext cx="11430000" cy="1572768"/>
          </a:xfrm>
          <a:prstGeom prst="rect">
            <a:avLst/>
          </a:prstGeom>
          <a:solidFill>
            <a:srgbClr val="1A2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65760" y="3227832"/>
            <a:ext cx="1005840" cy="1572768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" y="3685032"/>
            <a:ext cx="1005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D1B2A"/>
                </a:solidFill>
                <a:latin typeface="Calibri"/>
              </a:rPr>
              <a:t>2NF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3300984"/>
            <a:ext cx="9875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6D6A0"/>
                </a:solidFill>
                <a:latin typeface="Calibri"/>
              </a:rPr>
              <a:t>Second Normal Form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08760" y="3666744"/>
            <a:ext cx="9875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CAD3E0"/>
                </a:solidFill>
                <a:latin typeface="Calibri"/>
              </a:rPr>
              <a:t>Rule: "Must be in 1NF; all non-key columns must fully depend on the entire primary key."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08760" y="4032504"/>
            <a:ext cx="9875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  •  Both tables use a single-column primary key (PK) — no composite keys.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08760" y="4251960"/>
            <a:ext cx="9875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  •  In users: all attributes (email, role, phone…) depend solely on user_id.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08760" y="4471416"/>
            <a:ext cx="4754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  •  In incidents: all attributes depend solely on id — no partial dependency exists.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9360" y="4471416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  •  incident_id is a UNIQUE business key, not part of the PK, so no partial deps.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4873752"/>
            <a:ext cx="11430000" cy="1572768"/>
          </a:xfrm>
          <a:prstGeom prst="rect">
            <a:avLst/>
          </a:prstGeom>
          <a:solidFill>
            <a:srgbClr val="1A2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65760" y="4873752"/>
            <a:ext cx="1005840" cy="1572768"/>
          </a:xfrm>
          <a:prstGeom prst="rect">
            <a:avLst/>
          </a:prstGeom>
          <a:solidFill>
            <a:srgbClr val="FFD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5330952"/>
            <a:ext cx="1005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D1B2A"/>
                </a:solidFill>
                <a:latin typeface="Calibri"/>
              </a:rPr>
              <a:t>3NF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08760" y="4946904"/>
            <a:ext cx="9875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D600"/>
                </a:solidFill>
                <a:latin typeface="Calibri"/>
              </a:rPr>
              <a:t>Third Normal Form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508760" y="5312664"/>
            <a:ext cx="9875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CAD3E0"/>
                </a:solidFill>
                <a:latin typeface="Calibri"/>
              </a:rPr>
              <a:t>Rule: "Must be in 2NF; no non-key column depends on another non-key column (no transitive deps)."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08760" y="5678424"/>
            <a:ext cx="9875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  •  No derived columns exist — all data is stored, not computed from other fields.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08760" y="5897880"/>
            <a:ext cx="9875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  •  Reporter details are in users; incidents only stores the FK reported_by.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508760" y="6117336"/>
            <a:ext cx="4754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  •  status is an ENUM directly on the row — not linked via a separate status table.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09360" y="6117336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  •  There are no transitive dependencies between non-key columns.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78992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AD3E0"/>
                </a:solidFill>
                <a:latin typeface="Calibri"/>
              </a:rPr>
              <a:t>09 / 14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88952" cy="6400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4D8"/>
                </a:solidFill>
                <a:latin typeface="Calibri"/>
              </a:rPr>
              <a:t>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30352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Development Life Cycle Model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389888"/>
            <a:ext cx="11430000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581912"/>
            <a:ext cx="11430000" cy="502920"/>
          </a:xfrm>
          <a:prstGeom prst="rect">
            <a:avLst/>
          </a:prstGeom>
          <a:solidFill>
            <a:srgbClr val="1A2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66420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4D8"/>
                </a:solidFill>
                <a:latin typeface="Calibri"/>
              </a:rPr>
              <a:t>Methodology:  Agile Software Development Model (Iterative &amp; Incremental)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2240280"/>
            <a:ext cx="1850136" cy="4572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" y="2258568"/>
            <a:ext cx="17952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0D1B2A"/>
                </a:solidFill>
                <a:latin typeface="Calibri"/>
              </a:rPr>
              <a:t>Planning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2788920"/>
            <a:ext cx="1850136" cy="3474720"/>
          </a:xfrm>
          <a:prstGeom prst="rect">
            <a:avLst/>
          </a:prstGeom>
          <a:solidFill>
            <a:srgbClr val="1A2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16507" y="2971800"/>
            <a:ext cx="548640" cy="548640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16507" y="297180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D1B2A"/>
                </a:solidFill>
                <a:latin typeface="Calibri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3657600"/>
            <a:ext cx="1795272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AD3E0"/>
                </a:solidFill>
                <a:latin typeface="Calibri"/>
              </a:rPr>
              <a:t>Define scope, goals, team roles,
and project timeline.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270760" y="2240280"/>
            <a:ext cx="1850136" cy="457200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316480" y="2258568"/>
            <a:ext cx="17952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0D1B2A"/>
                </a:solidFill>
                <a:latin typeface="Calibri"/>
              </a:rPr>
              <a:t>Requirements
Analysis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270760" y="2788920"/>
            <a:ext cx="1850136" cy="3474720"/>
          </a:xfrm>
          <a:prstGeom prst="rect">
            <a:avLst/>
          </a:prstGeom>
          <a:solidFill>
            <a:srgbClr val="1A2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2921508" y="2971800"/>
            <a:ext cx="548640" cy="548640"/>
          </a:xfrm>
          <a:prstGeom prst="ellipse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921508" y="297180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D1B2A"/>
                </a:solidFill>
                <a:latin typeface="Calibri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16480" y="3657600"/>
            <a:ext cx="1795272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AD3E0"/>
                </a:solidFill>
                <a:latin typeface="Calibri"/>
              </a:rPr>
              <a:t>Gather system requirements,
user stories, and use cases.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75760" y="2240280"/>
            <a:ext cx="1850136" cy="457200"/>
          </a:xfrm>
          <a:prstGeom prst="rect">
            <a:avLst/>
          </a:prstGeom>
          <a:solidFill>
            <a:srgbClr val="FFD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221480" y="2258568"/>
            <a:ext cx="17952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0D1B2A"/>
                </a:solidFill>
                <a:latin typeface="Calibri"/>
              </a:rPr>
              <a:t>System
Design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175760" y="2788920"/>
            <a:ext cx="1850136" cy="3474720"/>
          </a:xfrm>
          <a:prstGeom prst="rect">
            <a:avLst/>
          </a:prstGeom>
          <a:solidFill>
            <a:srgbClr val="1A2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4826508" y="2971800"/>
            <a:ext cx="548640" cy="548640"/>
          </a:xfrm>
          <a:prstGeom prst="ellipse">
            <a:avLst/>
          </a:prstGeom>
          <a:solidFill>
            <a:srgbClr val="FFD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826508" y="297180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D1B2A"/>
                </a:solidFill>
                <a:latin typeface="Calibri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21480" y="3657600"/>
            <a:ext cx="1795272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AD3E0"/>
                </a:solidFill>
                <a:latin typeface="Calibri"/>
              </a:rPr>
              <a:t>Design DB schema, ERD,
API contracts, and UI mockups.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080760" y="2240280"/>
            <a:ext cx="1850136" cy="457200"/>
          </a:xfrm>
          <a:prstGeom prst="rect">
            <a:avLst/>
          </a:prstGeom>
          <a:solidFill>
            <a:srgbClr val="FF9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126480" y="2258568"/>
            <a:ext cx="17952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0D1B2A"/>
                </a:solidFill>
                <a:latin typeface="Calibri"/>
              </a:rPr>
              <a:t>Implementation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080760" y="2788920"/>
            <a:ext cx="1850136" cy="3474720"/>
          </a:xfrm>
          <a:prstGeom prst="rect">
            <a:avLst/>
          </a:prstGeom>
          <a:solidFill>
            <a:srgbClr val="1A2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731508" y="2971800"/>
            <a:ext cx="548640" cy="548640"/>
          </a:xfrm>
          <a:prstGeom prst="ellipse">
            <a:avLst/>
          </a:prstGeom>
          <a:solidFill>
            <a:srgbClr val="FF9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31508" y="297180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D1B2A"/>
                </a:solidFill>
                <a:latin typeface="Calibri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26480" y="3657600"/>
            <a:ext cx="1795272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AD3E0"/>
                </a:solidFill>
                <a:latin typeface="Calibri"/>
              </a:rPr>
              <a:t>Code frontend (React/TS)
and backend (Flask/Python).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985760" y="2240280"/>
            <a:ext cx="1850136" cy="45720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031480" y="2258568"/>
            <a:ext cx="17952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0D1B2A"/>
                </a:solidFill>
                <a:latin typeface="Calibri"/>
              </a:rPr>
              <a:t>Testing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985760" y="2788920"/>
            <a:ext cx="1850136" cy="3474720"/>
          </a:xfrm>
          <a:prstGeom prst="rect">
            <a:avLst/>
          </a:prstGeom>
          <a:solidFill>
            <a:srgbClr val="1A2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8636508" y="2971800"/>
            <a:ext cx="548640" cy="548640"/>
          </a:xfrm>
          <a:prstGeom prst="ellipse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636508" y="297180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D1B2A"/>
                </a:solidFill>
                <a:latin typeface="Calibri"/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031480" y="3657600"/>
            <a:ext cx="1795272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AD3E0"/>
                </a:solidFill>
                <a:latin typeface="Calibri"/>
              </a:rPr>
              <a:t>Unit tests, integration tests,
manual QA, and bug fixes.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890760" y="2240280"/>
            <a:ext cx="1850136" cy="457200"/>
          </a:xfrm>
          <a:prstGeom prst="rect">
            <a:avLst/>
          </a:prstGeom>
          <a:solidFill>
            <a:srgbClr val="C77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936480" y="2258568"/>
            <a:ext cx="17952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0D1B2A"/>
                </a:solidFill>
                <a:latin typeface="Calibri"/>
              </a:rPr>
              <a:t>Deployment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890760" y="2788920"/>
            <a:ext cx="1850136" cy="3474720"/>
          </a:xfrm>
          <a:prstGeom prst="rect">
            <a:avLst/>
          </a:prstGeom>
          <a:solidFill>
            <a:srgbClr val="1A2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10541508" y="2971800"/>
            <a:ext cx="548640" cy="548640"/>
          </a:xfrm>
          <a:prstGeom prst="ellipse">
            <a:avLst/>
          </a:prstGeom>
          <a:solidFill>
            <a:srgbClr val="C77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541508" y="297180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D1B2A"/>
                </a:solidFill>
                <a:latin typeface="Calibri"/>
              </a:rPr>
              <a:t>6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936480" y="3657600"/>
            <a:ext cx="1795272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AD3E0"/>
                </a:solidFill>
                <a:latin typeface="Calibri"/>
              </a:rPr>
              <a:t>Deploy on local server,
review, and release.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65760" y="6400800"/>
            <a:ext cx="11430000" cy="384048"/>
          </a:xfrm>
          <a:prstGeom prst="rect">
            <a:avLst/>
          </a:prstGeom>
          <a:solidFill>
            <a:srgbClr val="1A2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48640" y="6455664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90E0EF"/>
                </a:solidFill>
                <a:latin typeface="Calibri"/>
              </a:rPr>
              <a:t>Agile allows iterative delivery: each sprint produces working software, enabling rapid feedback, testing, and course-correction.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78992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AD3E0"/>
                </a:solidFill>
                <a:latin typeface="Calibri"/>
              </a:rPr>
              <a:t>10 / 14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88952" cy="6400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4D8"/>
                </a:solidFill>
                <a:latin typeface="Calibri"/>
              </a:rPr>
              <a:t>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30352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Core System Features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389888"/>
            <a:ext cx="11430000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581912"/>
            <a:ext cx="5577840" cy="1600200"/>
          </a:xfrm>
          <a:prstGeom prst="rect">
            <a:avLst/>
          </a:prstGeom>
          <a:solidFill>
            <a:srgbClr val="1A2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581912"/>
            <a:ext cx="164592" cy="16002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" y="169164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00B4D8"/>
                </a:solidFill>
                <a:latin typeface="Calibri"/>
              </a:rPr>
              <a:t>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70432" y="1709928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Incident Reporting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2203704"/>
            <a:ext cx="5212080" cy="886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AD3E0"/>
                </a:solidFill>
                <a:latin typeface="Calibri"/>
              </a:rPr>
              <a:t>Staff submit incident reports with date, time, location, cause, description, and optional file attachments (DOCX/PDF).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72200" y="1581912"/>
            <a:ext cx="5577840" cy="1600200"/>
          </a:xfrm>
          <a:prstGeom prst="rect">
            <a:avLst/>
          </a:prstGeom>
          <a:solidFill>
            <a:srgbClr val="1A2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72200" y="1581912"/>
            <a:ext cx="164592" cy="1600200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28232" y="169164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06D6A0"/>
                </a:solidFill>
                <a:latin typeface="Calibri"/>
              </a:rPr>
              <a:t>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76872" y="1709928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Automated Status Workflow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28232" y="2203704"/>
            <a:ext cx="5212080" cy="886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AD3E0"/>
                </a:solidFill>
                <a:latin typeface="Calibri"/>
              </a:rPr>
              <a:t>Incidents progress through a structured pipeline: Pending → In Progress → Solved with role-based transitions.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3300984"/>
            <a:ext cx="5577840" cy="1600200"/>
          </a:xfrm>
          <a:prstGeom prst="rect">
            <a:avLst/>
          </a:prstGeom>
          <a:solidFill>
            <a:srgbClr val="1A2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65760" y="3300984"/>
            <a:ext cx="164592" cy="1600200"/>
          </a:xfrm>
          <a:prstGeom prst="rect">
            <a:avLst/>
          </a:prstGeom>
          <a:solidFill>
            <a:srgbClr val="FFD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1792" y="3410712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D600"/>
                </a:solidFill>
                <a:latin typeface="Calibri"/>
              </a:rPr>
              <a:t>📊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70432" y="3429000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Analytics Dashboard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" y="3922776"/>
            <a:ext cx="5212080" cy="886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AD3E0"/>
                </a:solidFill>
                <a:latin typeface="Calibri"/>
              </a:rPr>
              <a:t>Admins view real-time data: total counts, weekly bar charts, monthly trend lines, and status pie charts.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72200" y="3300984"/>
            <a:ext cx="5577840" cy="1600200"/>
          </a:xfrm>
          <a:prstGeom prst="rect">
            <a:avLst/>
          </a:prstGeom>
          <a:solidFill>
            <a:srgbClr val="1A2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72200" y="3300984"/>
            <a:ext cx="164592" cy="1600200"/>
          </a:xfrm>
          <a:prstGeom prst="rect">
            <a:avLst/>
          </a:prstGeom>
          <a:solidFill>
            <a:srgbClr val="C77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28232" y="3410712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C77DFF"/>
                </a:solidFill>
                <a:latin typeface="Calibri"/>
              </a:rPr>
              <a:t>🔍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76872" y="3429000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Search &amp; Filtering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28232" y="3922776"/>
            <a:ext cx="5212080" cy="886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AD3E0"/>
                </a:solidFill>
                <a:latin typeface="Calibri"/>
              </a:rPr>
              <a:t>Filter incidents by date range, status, location, or keyword. Paginated results for performance.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5760" y="5020056"/>
            <a:ext cx="5577840" cy="1600200"/>
          </a:xfrm>
          <a:prstGeom prst="rect">
            <a:avLst/>
          </a:prstGeom>
          <a:solidFill>
            <a:srgbClr val="1A2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65760" y="5020056"/>
            <a:ext cx="164592" cy="160020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1792" y="5129784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6B6B"/>
                </a:solidFill>
                <a:latin typeface="Calibri"/>
              </a:rPr>
              <a:t>📄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70432" y="5148072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PDF Report Generation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1792" y="5641848"/>
            <a:ext cx="5212080" cy="886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AD3E0"/>
                </a:solidFill>
                <a:latin typeface="Calibri"/>
              </a:rPr>
              <a:t>Individual incident PDFs and compiled full reports are auto-generated at each workflow step using ReportLab.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172200" y="5020056"/>
            <a:ext cx="5577840" cy="1600200"/>
          </a:xfrm>
          <a:prstGeom prst="rect">
            <a:avLst/>
          </a:prstGeom>
          <a:solidFill>
            <a:srgbClr val="1A2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172200" y="5020056"/>
            <a:ext cx="164592" cy="1600200"/>
          </a:xfrm>
          <a:prstGeom prst="rect">
            <a:avLst/>
          </a:prstGeom>
          <a:solidFill>
            <a:srgbClr val="FF9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28232" y="5129784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9000"/>
                </a:solidFill>
                <a:latin typeface="Calibri"/>
              </a:rPr>
              <a:t>🔔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76872" y="5148072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Notifications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28232" y="5641848"/>
            <a:ext cx="5212080" cy="886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AD3E0"/>
                </a:solidFill>
                <a:latin typeface="Calibri"/>
              </a:rPr>
              <a:t>Automated email (SMTP) and SMS (Twilio) notifications sent on new submissions and status updates.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78992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AD3E0"/>
                </a:solidFill>
                <a:latin typeface="Calibri"/>
              </a:rPr>
              <a:t>11 / 14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88952" cy="6400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4D8"/>
                </a:solidFill>
                <a:latin typeface="Calibri"/>
              </a:rPr>
              <a:t>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30352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User Roles &amp; Access Control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389888"/>
            <a:ext cx="11430000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581912"/>
            <a:ext cx="5486400" cy="4892040"/>
          </a:xfrm>
          <a:prstGeom prst="rect">
            <a:avLst/>
          </a:prstGeom>
          <a:solidFill>
            <a:srgbClr val="1A2D42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581912"/>
            <a:ext cx="5486400" cy="4572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645920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D1B2A"/>
                </a:solidFill>
                <a:latin typeface="Calibri"/>
              </a:rPr>
              <a:t>👤  Staff Role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14884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  <a:latin typeface="Calibri"/>
              </a:rPr>
              <a:t>✅  Log in to the staff portal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60604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  <a:latin typeface="Calibri"/>
              </a:rPr>
              <a:t>✅  Submit new incident reports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06324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  <a:latin typeface="Calibri"/>
              </a:rPr>
              <a:t>✅  Upload supporting documents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52044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  <a:latin typeface="Calibri"/>
              </a:rPr>
              <a:t>✅  View only their own reports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977639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  <a:latin typeface="Calibri"/>
              </a:rPr>
              <a:t>✅  Mark incidents as Solved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43484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  <a:latin typeface="Calibri"/>
              </a:rPr>
              <a:t>✅  Download PDF of own reports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489204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  <a:latin typeface="Calibri"/>
              </a:rPr>
              <a:t>❌  View other staff's incidents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534924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  <a:latin typeface="Calibri"/>
              </a:rPr>
              <a:t>❌  Access analytics dashboard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580644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  <a:latin typeface="Calibri"/>
              </a:rPr>
              <a:t>❌  Manage user accounts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17920" y="1581912"/>
            <a:ext cx="5577840" cy="4892040"/>
          </a:xfrm>
          <a:prstGeom prst="rect">
            <a:avLst/>
          </a:prstGeom>
          <a:solidFill>
            <a:srgbClr val="1A2D42"/>
          </a:solidFill>
          <a:ln w="19050">
            <a:solidFill>
              <a:srgbClr val="06D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17920" y="1581912"/>
            <a:ext cx="5577840" cy="457200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0" y="1645920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D1B2A"/>
                </a:solidFill>
                <a:latin typeface="Calibri"/>
              </a:rPr>
              <a:t>🛡  Administrator Role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2148840"/>
            <a:ext cx="5394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  <a:latin typeface="Calibri"/>
              </a:rPr>
              <a:t>✅  Log in to the admin portal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2606040"/>
            <a:ext cx="5394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  <a:latin typeface="Calibri"/>
              </a:rPr>
              <a:t>✅  View ALL incident reports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3063240"/>
            <a:ext cx="5394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  <a:latin typeface="Calibri"/>
              </a:rPr>
              <a:t>✅  Update status to In Progress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3520440"/>
            <a:ext cx="5394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  <a:latin typeface="Calibri"/>
              </a:rPr>
              <a:t>✅  Access analytics dashboard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3977639"/>
            <a:ext cx="5394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  <a:latin typeface="Calibri"/>
              </a:rPr>
              <a:t>✅  Generate compiled PDF reports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4434840"/>
            <a:ext cx="5394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  <a:latin typeface="Calibri"/>
              </a:rPr>
              <a:t>✅  Create / edit / deactivate users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4892040"/>
            <a:ext cx="5394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  <a:latin typeface="Calibri"/>
              </a:rPr>
              <a:t>✅  Manage notification settings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5349240"/>
            <a:ext cx="5394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  <a:latin typeface="Calibri"/>
              </a:rPr>
              <a:t>✅  Delete any incident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5806440"/>
            <a:ext cx="5394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  <a:latin typeface="Calibri"/>
              </a:rPr>
              <a:t>✅  Full system access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78992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AD3E0"/>
                </a:solidFill>
                <a:latin typeface="Calibri"/>
              </a:rPr>
              <a:t>12 / 14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88952" cy="6400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4D8"/>
                </a:solidFill>
                <a:latin typeface="Calibri"/>
              </a:rPr>
              <a:t>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30352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Project Structure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389888"/>
            <a:ext cx="11430000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581912"/>
            <a:ext cx="5394960" cy="4892040"/>
          </a:xfrm>
          <a:prstGeom prst="rect">
            <a:avLst/>
          </a:prstGeom>
          <a:solidFill>
            <a:srgbClr val="1A2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581912"/>
            <a:ext cx="5394960" cy="36576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627632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1B2A"/>
                </a:solidFill>
                <a:latin typeface="Calibri"/>
              </a:rPr>
              <a:t>📁  backend/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029968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AD3E0"/>
                </a:solidFill>
                <a:latin typeface="Calibri"/>
              </a:rPr>
              <a:t/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2029968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D600"/>
                </a:solidFill>
                <a:latin typeface="Calibri"/>
              </a:rPr>
              <a:t>app.py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46120" y="2029968"/>
            <a:ext cx="2423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AD3E0"/>
                </a:solidFill>
                <a:latin typeface="Calibri"/>
              </a:rPr>
              <a:t>— Main Flask API — all routes &amp; logic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37744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AD3E0"/>
                </a:solidFill>
                <a:latin typeface="Calibri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237744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D600"/>
                </a:solidFill>
                <a:latin typeface="Calibri"/>
              </a:rPr>
              <a:t>schema.sql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46120" y="2377440"/>
            <a:ext cx="2423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AD3E0"/>
                </a:solidFill>
                <a:latin typeface="Calibri"/>
              </a:rPr>
              <a:t>— MySQL DDL schema definitions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2724912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AD3E0"/>
                </a:solidFill>
                <a:latin typeface="Calibri"/>
              </a:rPr>
              <a:t/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54480" y="2724912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D600"/>
                </a:solidFill>
                <a:latin typeface="Calibri"/>
              </a:rPr>
              <a:t>mysql_setup.py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46120" y="2724912"/>
            <a:ext cx="2423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AD3E0"/>
                </a:solidFill>
                <a:latin typeface="Calibri"/>
              </a:rPr>
              <a:t>— DB init &amp; seeding script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3072384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AD3E0"/>
                </a:solidFill>
                <a:latin typeface="Calibri"/>
              </a:rPr>
              <a:t/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54480" y="3072384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D600"/>
                </a:solidFill>
                <a:latin typeface="Calibri"/>
              </a:rPr>
              <a:t>.env.example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46120" y="3072384"/>
            <a:ext cx="2423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AD3E0"/>
                </a:solidFill>
                <a:latin typeface="Calibri"/>
              </a:rPr>
              <a:t>— Environment variables template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3419856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AD3E0"/>
                </a:solidFill>
                <a:latin typeface="Calibri"/>
              </a:rPr>
              <a:t/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54480" y="3419856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D600"/>
                </a:solidFill>
                <a:latin typeface="Calibri"/>
              </a:rPr>
              <a:t>requirements.txt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46120" y="3419856"/>
            <a:ext cx="2423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AD3E0"/>
                </a:solidFill>
                <a:latin typeface="Calibri"/>
              </a:rPr>
              <a:t>— Python dependencies list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3767328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90E0EF"/>
                </a:solidFill>
                <a:latin typeface="Calibri"/>
              </a:rPr>
              <a:t>├── models/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411480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AD3E0"/>
                </a:solidFill>
                <a:latin typeface="Calibri"/>
              </a:rPr>
              <a:t>│   ├──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54480" y="411480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D600"/>
                </a:solidFill>
                <a:latin typeface="Calibri"/>
              </a:rPr>
              <a:t>database.py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46120" y="4114800"/>
            <a:ext cx="2423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AD3E0"/>
                </a:solidFill>
                <a:latin typeface="Calibri"/>
              </a:rPr>
              <a:t>— SQLAlchemy db instance &amp; init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4462272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AD3E0"/>
                </a:solidFill>
                <a:latin typeface="Calibri"/>
              </a:rPr>
              <a:t>│   ├──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54480" y="4462272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D600"/>
                </a:solidFill>
                <a:latin typeface="Calibri"/>
              </a:rPr>
              <a:t>user.py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246120" y="4462272"/>
            <a:ext cx="2423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AD3E0"/>
                </a:solidFill>
                <a:latin typeface="Calibri"/>
              </a:rPr>
              <a:t>— User model &amp; to_dict()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4809744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AD3E0"/>
                </a:solidFill>
                <a:latin typeface="Calibri"/>
              </a:rPr>
              <a:t>│   └──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554480" y="4809744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D600"/>
                </a:solidFill>
                <a:latin typeface="Calibri"/>
              </a:rPr>
              <a:t>incident.py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246120" y="4809744"/>
            <a:ext cx="2423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AD3E0"/>
                </a:solidFill>
                <a:latin typeface="Calibri"/>
              </a:rPr>
              <a:t>— Incident model &amp; helpers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5157216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90E0EF"/>
                </a:solidFill>
                <a:latin typeface="Calibri"/>
              </a:rPr>
              <a:t>└── utils/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" y="5504688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AD3E0"/>
                </a:solidFill>
                <a:latin typeface="Calibri"/>
              </a:rPr>
              <a:t>    ├──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554480" y="5504688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D600"/>
                </a:solidFill>
                <a:latin typeface="Calibri"/>
              </a:rPr>
              <a:t>pdf_generator.py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246120" y="5504688"/>
            <a:ext cx="2423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AD3E0"/>
                </a:solidFill>
                <a:latin typeface="Calibri"/>
              </a:rPr>
              <a:t>— ReportLab PDF generation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" y="585216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AD3E0"/>
                </a:solidFill>
                <a:latin typeface="Calibri"/>
              </a:rPr>
              <a:t>    └──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554480" y="585216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D600"/>
                </a:solidFill>
                <a:latin typeface="Calibri"/>
              </a:rPr>
              <a:t>notifications.py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246120" y="5852160"/>
            <a:ext cx="2423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AD3E0"/>
                </a:solidFill>
                <a:latin typeface="Calibri"/>
              </a:rPr>
              <a:t>— Email &amp; SMS dispatch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172200" y="1581912"/>
            <a:ext cx="5623560" cy="4892040"/>
          </a:xfrm>
          <a:prstGeom prst="rect">
            <a:avLst/>
          </a:prstGeom>
          <a:solidFill>
            <a:srgbClr val="1A2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172200" y="1581912"/>
            <a:ext cx="5623560" cy="365760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355080" y="1627632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1B2A"/>
                </a:solidFill>
                <a:latin typeface="Calibri"/>
              </a:rPr>
              <a:t>📁  app/ (frontend)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355080" y="2029968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AD3E0"/>
                </a:solidFill>
                <a:latin typeface="Calibri"/>
              </a:rPr>
              <a:t/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680960" y="2029968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D600"/>
                </a:solidFill>
                <a:latin typeface="Calibri"/>
              </a:rPr>
              <a:t>package.json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738360" y="2029968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AD3E0"/>
                </a:solidFill>
                <a:latin typeface="Calibri"/>
              </a:rPr>
              <a:t>— Dependencies &amp; scripts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355080" y="2322576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AD3E0"/>
                </a:solidFill>
                <a:latin typeface="Calibri"/>
              </a:rPr>
              <a:t/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680960" y="2322576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D600"/>
                </a:solidFill>
                <a:latin typeface="Calibri"/>
              </a:rPr>
              <a:t>vite.config.ts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738360" y="2322576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AD3E0"/>
                </a:solidFill>
                <a:latin typeface="Calibri"/>
              </a:rPr>
              <a:t>— Vite build configuration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355080" y="2615184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AD3E0"/>
                </a:solidFill>
                <a:latin typeface="Calibri"/>
              </a:rPr>
              <a:t/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680960" y="2615184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D600"/>
                </a:solidFill>
                <a:latin typeface="Calibri"/>
              </a:rPr>
              <a:t>index.html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738360" y="2615184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AD3E0"/>
                </a:solidFill>
                <a:latin typeface="Calibri"/>
              </a:rPr>
              <a:t>— HTML entry point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355080" y="2907792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90E0EF"/>
                </a:solidFill>
                <a:latin typeface="Calibri"/>
              </a:rPr>
              <a:t>└── src/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355080" y="320040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AD3E0"/>
                </a:solidFill>
                <a:latin typeface="Calibri"/>
              </a:rPr>
              <a:t>    ├──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680960" y="320040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D600"/>
                </a:solidFill>
                <a:latin typeface="Calibri"/>
              </a:rPr>
              <a:t>App.tsx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738360" y="320040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AD3E0"/>
                </a:solidFill>
                <a:latin typeface="Calibri"/>
              </a:rPr>
              <a:t>— Root component &amp; routing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355080" y="3493008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AD3E0"/>
                </a:solidFill>
                <a:latin typeface="Calibri"/>
              </a:rPr>
              <a:t>    ├──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680960" y="3493008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D600"/>
                </a:solidFill>
                <a:latin typeface="Calibri"/>
              </a:rPr>
              <a:t>main.tsx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738360" y="3493008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AD3E0"/>
                </a:solidFill>
                <a:latin typeface="Calibri"/>
              </a:rPr>
              <a:t>— React DOM entry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355080" y="3785616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90E0EF"/>
                </a:solidFill>
                <a:latin typeface="Calibri"/>
              </a:rPr>
              <a:t>    ├── pages/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355080" y="4078224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AD3E0"/>
                </a:solidFill>
                <a:latin typeface="Calibri"/>
              </a:rPr>
              <a:t>    │  ├──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680960" y="4078224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D600"/>
                </a:solidFill>
                <a:latin typeface="Calibri"/>
              </a:rPr>
              <a:t>AdminDashboard.tsx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738360" y="4078224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AD3E0"/>
                </a:solidFill>
                <a:latin typeface="Calibri"/>
              </a:rPr>
              <a:t>— Analytics &amp; admin view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355080" y="4370832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AD3E0"/>
                </a:solidFill>
                <a:latin typeface="Calibri"/>
              </a:rPr>
              <a:t>    │  ├──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680960" y="4370832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D600"/>
                </a:solidFill>
                <a:latin typeface="Calibri"/>
              </a:rPr>
              <a:t>IncidentReports.tsx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738360" y="4370832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AD3E0"/>
                </a:solidFill>
                <a:latin typeface="Calibri"/>
              </a:rPr>
              <a:t>— Incidents list &amp; CRUD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355080" y="466344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AD3E0"/>
                </a:solidFill>
                <a:latin typeface="Calibri"/>
              </a:rPr>
              <a:t>    │  ├──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680960" y="466344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D600"/>
                </a:solidFill>
                <a:latin typeface="Calibri"/>
              </a:rPr>
              <a:t>StaffDashboard.tsx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9738360" y="466344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AD3E0"/>
                </a:solidFill>
                <a:latin typeface="Calibri"/>
              </a:rPr>
              <a:t>— Staff home view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355080" y="4956048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AD3E0"/>
                </a:solidFill>
                <a:latin typeface="Calibri"/>
              </a:rPr>
              <a:t>    │  ├──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680960" y="4956048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D600"/>
                </a:solidFill>
                <a:latin typeface="Calibri"/>
              </a:rPr>
              <a:t>UserManagement.tsx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9738360" y="4956048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AD3E0"/>
                </a:solidFill>
                <a:latin typeface="Calibri"/>
              </a:rPr>
              <a:t>— Admin user CRUD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355080" y="5248656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AD3E0"/>
                </a:solidFill>
                <a:latin typeface="Calibri"/>
              </a:rPr>
              <a:t>    │  ├──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7680960" y="5248656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D600"/>
                </a:solidFill>
                <a:latin typeface="Calibri"/>
              </a:rPr>
              <a:t>Settings.tsx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9738360" y="5248656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AD3E0"/>
                </a:solidFill>
                <a:latin typeface="Calibri"/>
              </a:rPr>
              <a:t>— System settings page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355080" y="5541264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AD3E0"/>
                </a:solidFill>
                <a:latin typeface="Calibri"/>
              </a:rPr>
              <a:t>    │  └──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680960" y="5541264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D600"/>
                </a:solidFill>
                <a:latin typeface="Calibri"/>
              </a:rPr>
              <a:t>AdminLogin / StaffLogin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9738360" y="5541264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AD3E0"/>
                </a:solidFill>
                <a:latin typeface="Calibri"/>
              </a:rPr>
              <a:t>— Separate login portals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355080" y="5833872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90E0EF"/>
                </a:solidFill>
                <a:latin typeface="Calibri"/>
              </a:rPr>
              <a:t>    ├── components/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355080" y="612648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90E0EF"/>
                </a:solidFill>
                <a:latin typeface="Calibri"/>
              </a:rPr>
              <a:t>    ├── contexts/ (AuthContext)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355080" y="6419088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90E0EF"/>
                </a:solidFill>
                <a:latin typeface="Calibri"/>
              </a:rPr>
              <a:t>    └── services/ (api.ts)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078992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AD3E0"/>
                </a:solidFill>
                <a:latin typeface="Calibri"/>
              </a:rPr>
              <a:t>13 / 14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686800" y="3657600"/>
            <a:ext cx="4572000" cy="4572000"/>
          </a:xfrm>
          <a:prstGeom prst="ellipse">
            <a:avLst/>
          </a:prstGeom>
          <a:solidFill>
            <a:srgbClr val="1A2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2468880"/>
            <a:ext cx="12188952" cy="6400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73152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4D8"/>
                </a:solidFill>
                <a:latin typeface="Calibri"/>
              </a:rPr>
              <a:t>DMMMSU-SLUC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1887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alibri"/>
              </a:rPr>
              <a:t>Summary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788920"/>
            <a:ext cx="11247120" cy="548640"/>
          </a:xfrm>
          <a:prstGeom prst="rect">
            <a:avLst/>
          </a:prstGeom>
          <a:solidFill>
            <a:srgbClr val="1A2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2862072"/>
            <a:ext cx="411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00B4D8"/>
                </a:solidFill>
                <a:latin typeface="Calibri"/>
              </a:rPr>
              <a:t>🏫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" y="2880360"/>
            <a:ext cx="1188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4D8"/>
                </a:solidFill>
                <a:latin typeface="Calibri"/>
              </a:rPr>
              <a:t>System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31720" y="2880360"/>
            <a:ext cx="9281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Web-based Disaster/Emergency Incident Report Monitoring System for DMMMSU-SLUC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401568"/>
            <a:ext cx="11247120" cy="548640"/>
          </a:xfrm>
          <a:prstGeom prst="rect">
            <a:avLst/>
          </a:prstGeom>
          <a:solidFill>
            <a:srgbClr val="1A2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3474720"/>
            <a:ext cx="411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00B4D8"/>
                </a:solidFill>
                <a:latin typeface="Calibri"/>
              </a:rPr>
              <a:t>💻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8992" y="3493008"/>
            <a:ext cx="1188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4D8"/>
                </a:solidFill>
                <a:latin typeface="Calibri"/>
              </a:rPr>
              <a:t>Frontend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31720" y="3493008"/>
            <a:ext cx="9281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React 18 + TypeScript + Vite + Tailwind CSS + shadcn/ui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4014215"/>
            <a:ext cx="11247120" cy="548640"/>
          </a:xfrm>
          <a:prstGeom prst="rect">
            <a:avLst/>
          </a:prstGeom>
          <a:solidFill>
            <a:srgbClr val="1A2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" y="4087368"/>
            <a:ext cx="411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00B4D8"/>
                </a:solidFill>
                <a:latin typeface="Calibri"/>
              </a:rPr>
              <a:t>🐍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78992" y="4105655"/>
            <a:ext cx="1188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4D8"/>
                </a:solidFill>
                <a:latin typeface="Calibri"/>
              </a:rPr>
              <a:t>Backend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31720" y="4105655"/>
            <a:ext cx="9281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Python Flask + SQLAlchemy + JWT Authentication + ReportLab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4626864"/>
            <a:ext cx="11247120" cy="548640"/>
          </a:xfrm>
          <a:prstGeom prst="rect">
            <a:avLst/>
          </a:prstGeom>
          <a:solidFill>
            <a:srgbClr val="1A2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" y="4700016"/>
            <a:ext cx="411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00B4D8"/>
                </a:solidFill>
                <a:latin typeface="Calibri"/>
              </a:rPr>
              <a:t>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78992" y="4718304"/>
            <a:ext cx="1188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4D8"/>
                </a:solidFill>
                <a:latin typeface="Calibri"/>
              </a:rPr>
              <a:t>Database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331720" y="4718304"/>
            <a:ext cx="9281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MySQL 8 (campus_incidents_db) — 2 tables, fully normalized to 3NF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5239512"/>
            <a:ext cx="11247120" cy="548640"/>
          </a:xfrm>
          <a:prstGeom prst="rect">
            <a:avLst/>
          </a:prstGeom>
          <a:solidFill>
            <a:srgbClr val="1A2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4360" y="5312664"/>
            <a:ext cx="411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00B4D8"/>
                </a:solidFill>
                <a:latin typeface="Calibri"/>
              </a:rPr>
              <a:t>🔄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78992" y="5330952"/>
            <a:ext cx="1188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4D8"/>
                </a:solidFill>
                <a:latin typeface="Calibri"/>
              </a:rPr>
              <a:t>SDLC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331720" y="5330952"/>
            <a:ext cx="9281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Agile iterative model with 6 phases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5852160"/>
            <a:ext cx="11247120" cy="548640"/>
          </a:xfrm>
          <a:prstGeom prst="rect">
            <a:avLst/>
          </a:prstGeom>
          <a:solidFill>
            <a:srgbClr val="1A2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94360" y="5925312"/>
            <a:ext cx="411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00B4D8"/>
                </a:solidFill>
                <a:latin typeface="Calibri"/>
              </a:rPr>
              <a:t>🔑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78992" y="5943600"/>
            <a:ext cx="1188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4D8"/>
                </a:solidFill>
                <a:latin typeface="Calibri"/>
              </a:rPr>
              <a:t>Roles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331720" y="5943600"/>
            <a:ext cx="9281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Staff (report &amp; resolve) | Admin (manage, analyze, oversee)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11247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0B4D8"/>
                </a:solidFill>
                <a:latin typeface="Calibri"/>
              </a:rPr>
              <a:t>Thank You!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78992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AD3E0"/>
                </a:solidFill>
                <a:latin typeface="Calibri"/>
              </a:rPr>
              <a:t>14 / 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